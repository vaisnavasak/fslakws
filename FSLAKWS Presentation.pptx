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24"/>
  </p:notesMasterIdLst>
  <p:sldIdLst>
    <p:sldId id="257" r:id="rId2"/>
    <p:sldId id="260" r:id="rId3"/>
    <p:sldId id="259" r:id="rId4"/>
    <p:sldId id="261" r:id="rId5"/>
    <p:sldId id="262" r:id="rId6"/>
    <p:sldId id="263" r:id="rId7"/>
    <p:sldId id="264" r:id="rId8"/>
    <p:sldId id="267" r:id="rId9"/>
    <p:sldId id="265" r:id="rId10"/>
    <p:sldId id="266" r:id="rId11"/>
    <p:sldId id="268" r:id="rId12"/>
    <p:sldId id="269" r:id="rId13"/>
    <p:sldId id="270" r:id="rId14"/>
    <p:sldId id="276" r:id="rId15"/>
    <p:sldId id="277" r:id="rId16"/>
    <p:sldId id="278" r:id="rId17"/>
    <p:sldId id="279" r:id="rId18"/>
    <p:sldId id="271" r:id="rId19"/>
    <p:sldId id="272" r:id="rId20"/>
    <p:sldId id="281" r:id="rId21"/>
    <p:sldId id="275" r:id="rId22"/>
    <p:sldId id="273" r:id="rId23"/>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5940675A-B579-460E-94D1-54222C63F5DA}" styleName="No Style, Table Grid">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4995" autoAdjust="0"/>
    <p:restoredTop sz="89412" autoAdjust="0"/>
  </p:normalViewPr>
  <p:slideViewPr>
    <p:cSldViewPr snapToGrid="0">
      <p:cViewPr varScale="1">
        <p:scale>
          <a:sx n="79" d="100"/>
          <a:sy n="79" d="100"/>
        </p:scale>
        <p:origin x="850" y="77"/>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viewProps" Target="viewProps.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presProps" Target="pres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notesMaster" Target="notesMasters/notesMaster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tableStyles" Target="tableStyles.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theme" Target="theme/theme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IN"/>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2A6323DE-EAA5-43F7-A2FD-9C5BA99E9EF0}" type="datetimeFigureOut">
              <a:rPr lang="en-IN" smtClean="0"/>
              <a:t>09-07-2026</a:t>
            </a:fld>
            <a:endParaRPr lang="en-IN"/>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IN"/>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IN"/>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946AC44-6534-422B-80E4-A30031D2D959}" type="slidenum">
              <a:rPr lang="en-IN" smtClean="0"/>
              <a:t>‹#›</a:t>
            </a:fld>
            <a:endParaRPr lang="en-IN"/>
          </a:p>
        </p:txBody>
      </p:sp>
    </p:spTree>
    <p:extLst>
      <p:ext uri="{BB962C8B-B14F-4D97-AF65-F5344CB8AC3E}">
        <p14:creationId xmlns:p14="http://schemas.microsoft.com/office/powerpoint/2010/main" val="308980468"/>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5"/>
          </p:nvPr>
        </p:nvSpPr>
        <p:spPr/>
        <p:txBody>
          <a:bodyPr/>
          <a:lstStyle/>
          <a:p>
            <a:fld id="{C946AC44-6534-422B-80E4-A30031D2D959}" type="slidenum">
              <a:rPr lang="en-IN" smtClean="0"/>
              <a:t>13</a:t>
            </a:fld>
            <a:endParaRPr lang="en-IN"/>
          </a:p>
        </p:txBody>
      </p:sp>
    </p:spTree>
    <p:extLst>
      <p:ext uri="{BB962C8B-B14F-4D97-AF65-F5344CB8AC3E}">
        <p14:creationId xmlns:p14="http://schemas.microsoft.com/office/powerpoint/2010/main" val="3811571264"/>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E5CFB99-70E6-C978-129A-FA3B48DAAE4A}"/>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IN"/>
          </a:p>
        </p:txBody>
      </p:sp>
      <p:sp>
        <p:nvSpPr>
          <p:cNvPr id="3" name="Subtitle 2">
            <a:extLst>
              <a:ext uri="{FF2B5EF4-FFF2-40B4-BE49-F238E27FC236}">
                <a16:creationId xmlns:a16="http://schemas.microsoft.com/office/drawing/2014/main" id="{7C6B0485-2580-F0A4-101F-1BDB9321592E}"/>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IN"/>
          </a:p>
        </p:txBody>
      </p:sp>
      <p:sp>
        <p:nvSpPr>
          <p:cNvPr id="4" name="Date Placeholder 3">
            <a:extLst>
              <a:ext uri="{FF2B5EF4-FFF2-40B4-BE49-F238E27FC236}">
                <a16:creationId xmlns:a16="http://schemas.microsoft.com/office/drawing/2014/main" id="{D59DF647-1639-0C00-A06C-C03865F68E6B}"/>
              </a:ext>
            </a:extLst>
          </p:cNvPr>
          <p:cNvSpPr>
            <a:spLocks noGrp="1"/>
          </p:cNvSpPr>
          <p:nvPr>
            <p:ph type="dt" sz="half" idx="10"/>
          </p:nvPr>
        </p:nvSpPr>
        <p:spPr/>
        <p:txBody>
          <a:bodyPr/>
          <a:lstStyle/>
          <a:p>
            <a:fld id="{2A724C43-C7FE-4E23-BD4D-1C6A3CDFDD9B}" type="datetimeFigureOut">
              <a:rPr lang="en-IN" smtClean="0"/>
              <a:t>09-07-2026</a:t>
            </a:fld>
            <a:endParaRPr lang="en-IN"/>
          </a:p>
        </p:txBody>
      </p:sp>
      <p:sp>
        <p:nvSpPr>
          <p:cNvPr id="5" name="Footer Placeholder 4">
            <a:extLst>
              <a:ext uri="{FF2B5EF4-FFF2-40B4-BE49-F238E27FC236}">
                <a16:creationId xmlns:a16="http://schemas.microsoft.com/office/drawing/2014/main" id="{6CD43F0F-6717-6E79-65B8-467D57913FDA}"/>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5CBAFC34-A7E7-8F39-7E1A-BBFDAC821A64}"/>
              </a:ext>
            </a:extLst>
          </p:cNvPr>
          <p:cNvSpPr>
            <a:spLocks noGrp="1"/>
          </p:cNvSpPr>
          <p:nvPr>
            <p:ph type="sldNum" sz="quarter" idx="12"/>
          </p:nvPr>
        </p:nvSpPr>
        <p:spPr/>
        <p:txBody>
          <a:bodyPr/>
          <a:lstStyle/>
          <a:p>
            <a:fld id="{517687EB-3E51-4A51-B936-5166187E0591}" type="slidenum">
              <a:rPr lang="en-IN" smtClean="0"/>
              <a:t>‹#›</a:t>
            </a:fld>
            <a:endParaRPr lang="en-IN"/>
          </a:p>
        </p:txBody>
      </p:sp>
    </p:spTree>
    <p:extLst>
      <p:ext uri="{BB962C8B-B14F-4D97-AF65-F5344CB8AC3E}">
        <p14:creationId xmlns:p14="http://schemas.microsoft.com/office/powerpoint/2010/main" val="3203344989"/>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39293C6-E083-561B-2301-C679EF16237E}"/>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593480BA-CA79-B8CD-75E8-A0E3F5E476F1}"/>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A9B829B5-2806-BEA6-A98D-A742366150E0}"/>
              </a:ext>
            </a:extLst>
          </p:cNvPr>
          <p:cNvSpPr>
            <a:spLocks noGrp="1"/>
          </p:cNvSpPr>
          <p:nvPr>
            <p:ph type="dt" sz="half" idx="10"/>
          </p:nvPr>
        </p:nvSpPr>
        <p:spPr/>
        <p:txBody>
          <a:bodyPr/>
          <a:lstStyle/>
          <a:p>
            <a:fld id="{2A724C43-C7FE-4E23-BD4D-1C6A3CDFDD9B}" type="datetimeFigureOut">
              <a:rPr lang="en-IN" smtClean="0"/>
              <a:t>09-07-2026</a:t>
            </a:fld>
            <a:endParaRPr lang="en-IN"/>
          </a:p>
        </p:txBody>
      </p:sp>
      <p:sp>
        <p:nvSpPr>
          <p:cNvPr id="5" name="Footer Placeholder 4">
            <a:extLst>
              <a:ext uri="{FF2B5EF4-FFF2-40B4-BE49-F238E27FC236}">
                <a16:creationId xmlns:a16="http://schemas.microsoft.com/office/drawing/2014/main" id="{4521CC60-5A5E-19DF-584E-7A56C6187505}"/>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D547FECF-3E80-BF76-2B4A-60738E58DB6A}"/>
              </a:ext>
            </a:extLst>
          </p:cNvPr>
          <p:cNvSpPr>
            <a:spLocks noGrp="1"/>
          </p:cNvSpPr>
          <p:nvPr>
            <p:ph type="sldNum" sz="quarter" idx="12"/>
          </p:nvPr>
        </p:nvSpPr>
        <p:spPr/>
        <p:txBody>
          <a:bodyPr/>
          <a:lstStyle/>
          <a:p>
            <a:fld id="{517687EB-3E51-4A51-B936-5166187E0591}" type="slidenum">
              <a:rPr lang="en-IN" smtClean="0"/>
              <a:t>‹#›</a:t>
            </a:fld>
            <a:endParaRPr lang="en-IN"/>
          </a:p>
        </p:txBody>
      </p:sp>
    </p:spTree>
    <p:extLst>
      <p:ext uri="{BB962C8B-B14F-4D97-AF65-F5344CB8AC3E}">
        <p14:creationId xmlns:p14="http://schemas.microsoft.com/office/powerpoint/2010/main" val="3782838002"/>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1E47D09-E56F-FC25-E223-873926BA7EC1}"/>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IN"/>
          </a:p>
        </p:txBody>
      </p:sp>
      <p:sp>
        <p:nvSpPr>
          <p:cNvPr id="3" name="Text Placeholder 2">
            <a:extLst>
              <a:ext uri="{FF2B5EF4-FFF2-40B4-BE49-F238E27FC236}">
                <a16:creationId xmlns:a16="http://schemas.microsoft.com/office/drawing/2014/main" id="{B553C306-6178-6161-7AE1-E175EE989C27}"/>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C858DDDE-02E4-5CF7-DEA8-DC199ABF6B5C}"/>
              </a:ext>
            </a:extLst>
          </p:cNvPr>
          <p:cNvSpPr>
            <a:spLocks noGrp="1"/>
          </p:cNvSpPr>
          <p:nvPr>
            <p:ph type="dt" sz="half" idx="10"/>
          </p:nvPr>
        </p:nvSpPr>
        <p:spPr/>
        <p:txBody>
          <a:bodyPr/>
          <a:lstStyle/>
          <a:p>
            <a:fld id="{2A724C43-C7FE-4E23-BD4D-1C6A3CDFDD9B}" type="datetimeFigureOut">
              <a:rPr lang="en-IN" smtClean="0"/>
              <a:t>09-07-2026</a:t>
            </a:fld>
            <a:endParaRPr lang="en-IN"/>
          </a:p>
        </p:txBody>
      </p:sp>
      <p:sp>
        <p:nvSpPr>
          <p:cNvPr id="5" name="Footer Placeholder 4">
            <a:extLst>
              <a:ext uri="{FF2B5EF4-FFF2-40B4-BE49-F238E27FC236}">
                <a16:creationId xmlns:a16="http://schemas.microsoft.com/office/drawing/2014/main" id="{79D8E945-D2DE-4C12-9C82-71512666C2BC}"/>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AF174F5A-DE65-EF93-7F8F-257CBDD0E035}"/>
              </a:ext>
            </a:extLst>
          </p:cNvPr>
          <p:cNvSpPr>
            <a:spLocks noGrp="1"/>
          </p:cNvSpPr>
          <p:nvPr>
            <p:ph type="sldNum" sz="quarter" idx="12"/>
          </p:nvPr>
        </p:nvSpPr>
        <p:spPr/>
        <p:txBody>
          <a:bodyPr/>
          <a:lstStyle/>
          <a:p>
            <a:fld id="{517687EB-3E51-4A51-B936-5166187E0591}" type="slidenum">
              <a:rPr lang="en-IN" smtClean="0"/>
              <a:t>‹#›</a:t>
            </a:fld>
            <a:endParaRPr lang="en-IN"/>
          </a:p>
        </p:txBody>
      </p:sp>
    </p:spTree>
    <p:extLst>
      <p:ext uri="{BB962C8B-B14F-4D97-AF65-F5344CB8AC3E}">
        <p14:creationId xmlns:p14="http://schemas.microsoft.com/office/powerpoint/2010/main" val="549990587"/>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FA6367B-CCCB-2877-DCFA-D059498F286A}"/>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FCF1EFA7-AF01-F187-C6F7-F4918937ABB7}"/>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Content Placeholder 3">
            <a:extLst>
              <a:ext uri="{FF2B5EF4-FFF2-40B4-BE49-F238E27FC236}">
                <a16:creationId xmlns:a16="http://schemas.microsoft.com/office/drawing/2014/main" id="{CFB372AF-2924-3290-8431-50474AF017AB}"/>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Date Placeholder 4">
            <a:extLst>
              <a:ext uri="{FF2B5EF4-FFF2-40B4-BE49-F238E27FC236}">
                <a16:creationId xmlns:a16="http://schemas.microsoft.com/office/drawing/2014/main" id="{5FCC93A1-F174-14C0-63B9-D3F55A197D87}"/>
              </a:ext>
            </a:extLst>
          </p:cNvPr>
          <p:cNvSpPr>
            <a:spLocks noGrp="1"/>
          </p:cNvSpPr>
          <p:nvPr>
            <p:ph type="dt" sz="half" idx="10"/>
          </p:nvPr>
        </p:nvSpPr>
        <p:spPr/>
        <p:txBody>
          <a:bodyPr/>
          <a:lstStyle/>
          <a:p>
            <a:fld id="{2A724C43-C7FE-4E23-BD4D-1C6A3CDFDD9B}" type="datetimeFigureOut">
              <a:rPr lang="en-IN" smtClean="0"/>
              <a:t>09-07-2026</a:t>
            </a:fld>
            <a:endParaRPr lang="en-IN"/>
          </a:p>
        </p:txBody>
      </p:sp>
      <p:sp>
        <p:nvSpPr>
          <p:cNvPr id="6" name="Footer Placeholder 5">
            <a:extLst>
              <a:ext uri="{FF2B5EF4-FFF2-40B4-BE49-F238E27FC236}">
                <a16:creationId xmlns:a16="http://schemas.microsoft.com/office/drawing/2014/main" id="{B933365D-7CC5-1B21-125B-8948CEED1DB0}"/>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E5D1166D-A56A-91C0-4860-7280B47C9C12}"/>
              </a:ext>
            </a:extLst>
          </p:cNvPr>
          <p:cNvSpPr>
            <a:spLocks noGrp="1"/>
          </p:cNvSpPr>
          <p:nvPr>
            <p:ph type="sldNum" sz="quarter" idx="12"/>
          </p:nvPr>
        </p:nvSpPr>
        <p:spPr/>
        <p:txBody>
          <a:bodyPr/>
          <a:lstStyle/>
          <a:p>
            <a:fld id="{517687EB-3E51-4A51-B936-5166187E0591}" type="slidenum">
              <a:rPr lang="en-IN" smtClean="0"/>
              <a:t>‹#›</a:t>
            </a:fld>
            <a:endParaRPr lang="en-IN"/>
          </a:p>
        </p:txBody>
      </p:sp>
    </p:spTree>
    <p:extLst>
      <p:ext uri="{BB962C8B-B14F-4D97-AF65-F5344CB8AC3E}">
        <p14:creationId xmlns:p14="http://schemas.microsoft.com/office/powerpoint/2010/main" val="2790163110"/>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96240D3-8DB2-AE04-D813-B27C35089195}"/>
              </a:ext>
            </a:extLst>
          </p:cNvPr>
          <p:cNvSpPr>
            <a:spLocks noGrp="1"/>
          </p:cNvSpPr>
          <p:nvPr>
            <p:ph type="title"/>
          </p:nvPr>
        </p:nvSpPr>
        <p:spPr>
          <a:xfrm>
            <a:off x="839788" y="365125"/>
            <a:ext cx="10515600" cy="1325563"/>
          </a:xfrm>
        </p:spPr>
        <p:txBody>
          <a:bodyPr/>
          <a:lstStyle/>
          <a:p>
            <a:r>
              <a:rPr lang="en-US"/>
              <a:t>Click to edit Master title style</a:t>
            </a:r>
            <a:endParaRPr lang="en-IN"/>
          </a:p>
        </p:txBody>
      </p:sp>
      <p:sp>
        <p:nvSpPr>
          <p:cNvPr id="3" name="Text Placeholder 2">
            <a:extLst>
              <a:ext uri="{FF2B5EF4-FFF2-40B4-BE49-F238E27FC236}">
                <a16:creationId xmlns:a16="http://schemas.microsoft.com/office/drawing/2014/main" id="{30A770AB-39EA-5FBB-8EC7-E4AFCDCBF78F}"/>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8B27B9AC-DD02-4410-A52F-30A297871A1D}"/>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Text Placeholder 4">
            <a:extLst>
              <a:ext uri="{FF2B5EF4-FFF2-40B4-BE49-F238E27FC236}">
                <a16:creationId xmlns:a16="http://schemas.microsoft.com/office/drawing/2014/main" id="{5F7E4FC5-8F26-359A-DAA3-9A7228EF2F2D}"/>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F5A4805E-DE32-949C-A884-47BE90954722}"/>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7" name="Date Placeholder 6">
            <a:extLst>
              <a:ext uri="{FF2B5EF4-FFF2-40B4-BE49-F238E27FC236}">
                <a16:creationId xmlns:a16="http://schemas.microsoft.com/office/drawing/2014/main" id="{B06D0238-9BE9-0DBA-67DD-6F849C2D5A24}"/>
              </a:ext>
            </a:extLst>
          </p:cNvPr>
          <p:cNvSpPr>
            <a:spLocks noGrp="1"/>
          </p:cNvSpPr>
          <p:nvPr>
            <p:ph type="dt" sz="half" idx="10"/>
          </p:nvPr>
        </p:nvSpPr>
        <p:spPr/>
        <p:txBody>
          <a:bodyPr/>
          <a:lstStyle/>
          <a:p>
            <a:fld id="{2A724C43-C7FE-4E23-BD4D-1C6A3CDFDD9B}" type="datetimeFigureOut">
              <a:rPr lang="en-IN" smtClean="0"/>
              <a:t>09-07-2026</a:t>
            </a:fld>
            <a:endParaRPr lang="en-IN"/>
          </a:p>
        </p:txBody>
      </p:sp>
      <p:sp>
        <p:nvSpPr>
          <p:cNvPr id="8" name="Footer Placeholder 7">
            <a:extLst>
              <a:ext uri="{FF2B5EF4-FFF2-40B4-BE49-F238E27FC236}">
                <a16:creationId xmlns:a16="http://schemas.microsoft.com/office/drawing/2014/main" id="{70BAAECE-40D8-095E-4C40-9F2549C720FB}"/>
              </a:ext>
            </a:extLst>
          </p:cNvPr>
          <p:cNvSpPr>
            <a:spLocks noGrp="1"/>
          </p:cNvSpPr>
          <p:nvPr>
            <p:ph type="ftr" sz="quarter" idx="11"/>
          </p:nvPr>
        </p:nvSpPr>
        <p:spPr/>
        <p:txBody>
          <a:bodyPr/>
          <a:lstStyle/>
          <a:p>
            <a:endParaRPr lang="en-IN"/>
          </a:p>
        </p:txBody>
      </p:sp>
      <p:sp>
        <p:nvSpPr>
          <p:cNvPr id="9" name="Slide Number Placeholder 8">
            <a:extLst>
              <a:ext uri="{FF2B5EF4-FFF2-40B4-BE49-F238E27FC236}">
                <a16:creationId xmlns:a16="http://schemas.microsoft.com/office/drawing/2014/main" id="{D589C3DF-007E-65C2-C64E-92D46FA60E50}"/>
              </a:ext>
            </a:extLst>
          </p:cNvPr>
          <p:cNvSpPr>
            <a:spLocks noGrp="1"/>
          </p:cNvSpPr>
          <p:nvPr>
            <p:ph type="sldNum" sz="quarter" idx="12"/>
          </p:nvPr>
        </p:nvSpPr>
        <p:spPr/>
        <p:txBody>
          <a:bodyPr/>
          <a:lstStyle/>
          <a:p>
            <a:fld id="{517687EB-3E51-4A51-B936-5166187E0591}" type="slidenum">
              <a:rPr lang="en-IN" smtClean="0"/>
              <a:t>‹#›</a:t>
            </a:fld>
            <a:endParaRPr lang="en-IN"/>
          </a:p>
        </p:txBody>
      </p:sp>
    </p:spTree>
    <p:extLst>
      <p:ext uri="{BB962C8B-B14F-4D97-AF65-F5344CB8AC3E}">
        <p14:creationId xmlns:p14="http://schemas.microsoft.com/office/powerpoint/2010/main" val="3235021889"/>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64E40EF-C95E-D2E9-BC8A-9DFDF287239A}"/>
              </a:ext>
            </a:extLst>
          </p:cNvPr>
          <p:cNvSpPr>
            <a:spLocks noGrp="1"/>
          </p:cNvSpPr>
          <p:nvPr>
            <p:ph type="title"/>
          </p:nvPr>
        </p:nvSpPr>
        <p:spPr/>
        <p:txBody>
          <a:bodyPr/>
          <a:lstStyle/>
          <a:p>
            <a:r>
              <a:rPr lang="en-US"/>
              <a:t>Click to edit Master title style</a:t>
            </a:r>
            <a:endParaRPr lang="en-IN"/>
          </a:p>
        </p:txBody>
      </p:sp>
      <p:sp>
        <p:nvSpPr>
          <p:cNvPr id="3" name="Date Placeholder 2">
            <a:extLst>
              <a:ext uri="{FF2B5EF4-FFF2-40B4-BE49-F238E27FC236}">
                <a16:creationId xmlns:a16="http://schemas.microsoft.com/office/drawing/2014/main" id="{9ED6ADA3-E682-A21B-265B-FEA11BF23B86}"/>
              </a:ext>
            </a:extLst>
          </p:cNvPr>
          <p:cNvSpPr>
            <a:spLocks noGrp="1"/>
          </p:cNvSpPr>
          <p:nvPr>
            <p:ph type="dt" sz="half" idx="10"/>
          </p:nvPr>
        </p:nvSpPr>
        <p:spPr/>
        <p:txBody>
          <a:bodyPr/>
          <a:lstStyle/>
          <a:p>
            <a:fld id="{2A724C43-C7FE-4E23-BD4D-1C6A3CDFDD9B}" type="datetimeFigureOut">
              <a:rPr lang="en-IN" smtClean="0"/>
              <a:t>09-07-2026</a:t>
            </a:fld>
            <a:endParaRPr lang="en-IN"/>
          </a:p>
        </p:txBody>
      </p:sp>
      <p:sp>
        <p:nvSpPr>
          <p:cNvPr id="4" name="Footer Placeholder 3">
            <a:extLst>
              <a:ext uri="{FF2B5EF4-FFF2-40B4-BE49-F238E27FC236}">
                <a16:creationId xmlns:a16="http://schemas.microsoft.com/office/drawing/2014/main" id="{E95D6E44-CB9F-57F2-DCD0-098B3D55E7D0}"/>
              </a:ext>
            </a:extLst>
          </p:cNvPr>
          <p:cNvSpPr>
            <a:spLocks noGrp="1"/>
          </p:cNvSpPr>
          <p:nvPr>
            <p:ph type="ftr" sz="quarter" idx="11"/>
          </p:nvPr>
        </p:nvSpPr>
        <p:spPr/>
        <p:txBody>
          <a:bodyPr/>
          <a:lstStyle/>
          <a:p>
            <a:endParaRPr lang="en-IN"/>
          </a:p>
        </p:txBody>
      </p:sp>
      <p:sp>
        <p:nvSpPr>
          <p:cNvPr id="5" name="Slide Number Placeholder 4">
            <a:extLst>
              <a:ext uri="{FF2B5EF4-FFF2-40B4-BE49-F238E27FC236}">
                <a16:creationId xmlns:a16="http://schemas.microsoft.com/office/drawing/2014/main" id="{4C97A55B-796F-A8F0-D3A5-E174313FEB6C}"/>
              </a:ext>
            </a:extLst>
          </p:cNvPr>
          <p:cNvSpPr>
            <a:spLocks noGrp="1"/>
          </p:cNvSpPr>
          <p:nvPr>
            <p:ph type="sldNum" sz="quarter" idx="12"/>
          </p:nvPr>
        </p:nvSpPr>
        <p:spPr/>
        <p:txBody>
          <a:bodyPr/>
          <a:lstStyle/>
          <a:p>
            <a:fld id="{517687EB-3E51-4A51-B936-5166187E0591}" type="slidenum">
              <a:rPr lang="en-IN" smtClean="0"/>
              <a:t>‹#›</a:t>
            </a:fld>
            <a:endParaRPr lang="en-IN"/>
          </a:p>
        </p:txBody>
      </p:sp>
    </p:spTree>
    <p:extLst>
      <p:ext uri="{BB962C8B-B14F-4D97-AF65-F5344CB8AC3E}">
        <p14:creationId xmlns:p14="http://schemas.microsoft.com/office/powerpoint/2010/main" val="169020715"/>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0D53A59E-7ACE-9B5B-00C8-739FE4389E2B}"/>
              </a:ext>
            </a:extLst>
          </p:cNvPr>
          <p:cNvSpPr>
            <a:spLocks noGrp="1"/>
          </p:cNvSpPr>
          <p:nvPr>
            <p:ph type="dt" sz="half" idx="10"/>
          </p:nvPr>
        </p:nvSpPr>
        <p:spPr/>
        <p:txBody>
          <a:bodyPr/>
          <a:lstStyle/>
          <a:p>
            <a:fld id="{2A724C43-C7FE-4E23-BD4D-1C6A3CDFDD9B}" type="datetimeFigureOut">
              <a:rPr lang="en-IN" smtClean="0"/>
              <a:t>09-07-2026</a:t>
            </a:fld>
            <a:endParaRPr lang="en-IN"/>
          </a:p>
        </p:txBody>
      </p:sp>
      <p:sp>
        <p:nvSpPr>
          <p:cNvPr id="3" name="Footer Placeholder 2">
            <a:extLst>
              <a:ext uri="{FF2B5EF4-FFF2-40B4-BE49-F238E27FC236}">
                <a16:creationId xmlns:a16="http://schemas.microsoft.com/office/drawing/2014/main" id="{FDDB4634-F8B7-713D-A706-2C2A22DACFD1}"/>
              </a:ext>
            </a:extLst>
          </p:cNvPr>
          <p:cNvSpPr>
            <a:spLocks noGrp="1"/>
          </p:cNvSpPr>
          <p:nvPr>
            <p:ph type="ftr" sz="quarter" idx="11"/>
          </p:nvPr>
        </p:nvSpPr>
        <p:spPr/>
        <p:txBody>
          <a:bodyPr/>
          <a:lstStyle/>
          <a:p>
            <a:endParaRPr lang="en-IN"/>
          </a:p>
        </p:txBody>
      </p:sp>
      <p:sp>
        <p:nvSpPr>
          <p:cNvPr id="4" name="Slide Number Placeholder 3">
            <a:extLst>
              <a:ext uri="{FF2B5EF4-FFF2-40B4-BE49-F238E27FC236}">
                <a16:creationId xmlns:a16="http://schemas.microsoft.com/office/drawing/2014/main" id="{8C7D01FB-E7DA-47CE-924E-179900EF22AA}"/>
              </a:ext>
            </a:extLst>
          </p:cNvPr>
          <p:cNvSpPr>
            <a:spLocks noGrp="1"/>
          </p:cNvSpPr>
          <p:nvPr>
            <p:ph type="sldNum" sz="quarter" idx="12"/>
          </p:nvPr>
        </p:nvSpPr>
        <p:spPr/>
        <p:txBody>
          <a:bodyPr/>
          <a:lstStyle/>
          <a:p>
            <a:fld id="{517687EB-3E51-4A51-B936-5166187E0591}" type="slidenum">
              <a:rPr lang="en-IN" smtClean="0"/>
              <a:t>‹#›</a:t>
            </a:fld>
            <a:endParaRPr lang="en-IN"/>
          </a:p>
        </p:txBody>
      </p:sp>
    </p:spTree>
    <p:extLst>
      <p:ext uri="{BB962C8B-B14F-4D97-AF65-F5344CB8AC3E}">
        <p14:creationId xmlns:p14="http://schemas.microsoft.com/office/powerpoint/2010/main" val="1130755725"/>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A749E16-3526-BA2D-82F0-CFED5CC8CE5D}"/>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Content Placeholder 2">
            <a:extLst>
              <a:ext uri="{FF2B5EF4-FFF2-40B4-BE49-F238E27FC236}">
                <a16:creationId xmlns:a16="http://schemas.microsoft.com/office/drawing/2014/main" id="{B8A8547A-468D-FDF9-C330-C5B3E6B4FA1A}"/>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Text Placeholder 3">
            <a:extLst>
              <a:ext uri="{FF2B5EF4-FFF2-40B4-BE49-F238E27FC236}">
                <a16:creationId xmlns:a16="http://schemas.microsoft.com/office/drawing/2014/main" id="{7CFD38ED-02E7-7878-659B-E126034E3450}"/>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510DB918-5EB8-393C-8E6D-E8345151895D}"/>
              </a:ext>
            </a:extLst>
          </p:cNvPr>
          <p:cNvSpPr>
            <a:spLocks noGrp="1"/>
          </p:cNvSpPr>
          <p:nvPr>
            <p:ph type="dt" sz="half" idx="10"/>
          </p:nvPr>
        </p:nvSpPr>
        <p:spPr/>
        <p:txBody>
          <a:bodyPr/>
          <a:lstStyle/>
          <a:p>
            <a:fld id="{2A724C43-C7FE-4E23-BD4D-1C6A3CDFDD9B}" type="datetimeFigureOut">
              <a:rPr lang="en-IN" smtClean="0"/>
              <a:t>09-07-2026</a:t>
            </a:fld>
            <a:endParaRPr lang="en-IN"/>
          </a:p>
        </p:txBody>
      </p:sp>
      <p:sp>
        <p:nvSpPr>
          <p:cNvPr id="6" name="Footer Placeholder 5">
            <a:extLst>
              <a:ext uri="{FF2B5EF4-FFF2-40B4-BE49-F238E27FC236}">
                <a16:creationId xmlns:a16="http://schemas.microsoft.com/office/drawing/2014/main" id="{ABDB0630-EEFB-A7DC-2A7C-B963C67082DC}"/>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DCE80C72-A28B-983D-36E8-3CDA9CCF5A8F}"/>
              </a:ext>
            </a:extLst>
          </p:cNvPr>
          <p:cNvSpPr>
            <a:spLocks noGrp="1"/>
          </p:cNvSpPr>
          <p:nvPr>
            <p:ph type="sldNum" sz="quarter" idx="12"/>
          </p:nvPr>
        </p:nvSpPr>
        <p:spPr/>
        <p:txBody>
          <a:bodyPr/>
          <a:lstStyle/>
          <a:p>
            <a:fld id="{517687EB-3E51-4A51-B936-5166187E0591}" type="slidenum">
              <a:rPr lang="en-IN" smtClean="0"/>
              <a:t>‹#›</a:t>
            </a:fld>
            <a:endParaRPr lang="en-IN"/>
          </a:p>
        </p:txBody>
      </p:sp>
    </p:spTree>
    <p:extLst>
      <p:ext uri="{BB962C8B-B14F-4D97-AF65-F5344CB8AC3E}">
        <p14:creationId xmlns:p14="http://schemas.microsoft.com/office/powerpoint/2010/main" val="1278572319"/>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54B4EA7-235F-107A-31DE-A863744A9FDB}"/>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Picture Placeholder 2">
            <a:extLst>
              <a:ext uri="{FF2B5EF4-FFF2-40B4-BE49-F238E27FC236}">
                <a16:creationId xmlns:a16="http://schemas.microsoft.com/office/drawing/2014/main" id="{73FBF86E-DF69-A70E-7524-98989299E655}"/>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IN"/>
          </a:p>
        </p:txBody>
      </p:sp>
      <p:sp>
        <p:nvSpPr>
          <p:cNvPr id="4" name="Text Placeholder 3">
            <a:extLst>
              <a:ext uri="{FF2B5EF4-FFF2-40B4-BE49-F238E27FC236}">
                <a16:creationId xmlns:a16="http://schemas.microsoft.com/office/drawing/2014/main" id="{65AE58C0-0FB2-1AA8-05E3-7ADDCC7367FE}"/>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9C447CCC-42BB-BD65-2A3A-C4173048F0B7}"/>
              </a:ext>
            </a:extLst>
          </p:cNvPr>
          <p:cNvSpPr>
            <a:spLocks noGrp="1"/>
          </p:cNvSpPr>
          <p:nvPr>
            <p:ph type="dt" sz="half" idx="10"/>
          </p:nvPr>
        </p:nvSpPr>
        <p:spPr/>
        <p:txBody>
          <a:bodyPr/>
          <a:lstStyle/>
          <a:p>
            <a:fld id="{2A724C43-C7FE-4E23-BD4D-1C6A3CDFDD9B}" type="datetimeFigureOut">
              <a:rPr lang="en-IN" smtClean="0"/>
              <a:t>09-07-2026</a:t>
            </a:fld>
            <a:endParaRPr lang="en-IN"/>
          </a:p>
        </p:txBody>
      </p:sp>
      <p:sp>
        <p:nvSpPr>
          <p:cNvPr id="6" name="Footer Placeholder 5">
            <a:extLst>
              <a:ext uri="{FF2B5EF4-FFF2-40B4-BE49-F238E27FC236}">
                <a16:creationId xmlns:a16="http://schemas.microsoft.com/office/drawing/2014/main" id="{D6371869-CC54-136E-2B82-C0D337152888}"/>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C73F8F7E-C92A-772C-809C-63552F424311}"/>
              </a:ext>
            </a:extLst>
          </p:cNvPr>
          <p:cNvSpPr>
            <a:spLocks noGrp="1"/>
          </p:cNvSpPr>
          <p:nvPr>
            <p:ph type="sldNum" sz="quarter" idx="12"/>
          </p:nvPr>
        </p:nvSpPr>
        <p:spPr/>
        <p:txBody>
          <a:bodyPr/>
          <a:lstStyle/>
          <a:p>
            <a:fld id="{517687EB-3E51-4A51-B936-5166187E0591}" type="slidenum">
              <a:rPr lang="en-IN" smtClean="0"/>
              <a:t>‹#›</a:t>
            </a:fld>
            <a:endParaRPr lang="en-IN"/>
          </a:p>
        </p:txBody>
      </p:sp>
    </p:spTree>
    <p:extLst>
      <p:ext uri="{BB962C8B-B14F-4D97-AF65-F5344CB8AC3E}">
        <p14:creationId xmlns:p14="http://schemas.microsoft.com/office/powerpoint/2010/main" val="550491261"/>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0ACD6FD-6A4F-C707-7537-7D65EA027F85}"/>
              </a:ext>
            </a:extLst>
          </p:cNvPr>
          <p:cNvSpPr>
            <a:spLocks noGrp="1"/>
          </p:cNvSpPr>
          <p:nvPr>
            <p:ph type="title"/>
          </p:nvPr>
        </p:nvSpPr>
        <p:spPr/>
        <p:txBody>
          <a:bodyPr/>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26C9DC8E-D23B-E14A-C5C2-E4892FA9EBBB}"/>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EE2BFEC3-788A-4AE0-98B1-FA058E96D1E2}"/>
              </a:ext>
            </a:extLst>
          </p:cNvPr>
          <p:cNvSpPr>
            <a:spLocks noGrp="1"/>
          </p:cNvSpPr>
          <p:nvPr>
            <p:ph type="dt" sz="half" idx="10"/>
          </p:nvPr>
        </p:nvSpPr>
        <p:spPr/>
        <p:txBody>
          <a:bodyPr/>
          <a:lstStyle/>
          <a:p>
            <a:fld id="{2A724C43-C7FE-4E23-BD4D-1C6A3CDFDD9B}" type="datetimeFigureOut">
              <a:rPr lang="en-IN" smtClean="0"/>
              <a:t>09-07-2026</a:t>
            </a:fld>
            <a:endParaRPr lang="en-IN"/>
          </a:p>
        </p:txBody>
      </p:sp>
      <p:sp>
        <p:nvSpPr>
          <p:cNvPr id="5" name="Footer Placeholder 4">
            <a:extLst>
              <a:ext uri="{FF2B5EF4-FFF2-40B4-BE49-F238E27FC236}">
                <a16:creationId xmlns:a16="http://schemas.microsoft.com/office/drawing/2014/main" id="{10948246-6837-1D0B-7B43-E1DF199B8509}"/>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E5F9A3D1-909F-56F9-A50E-99B3825DCD4D}"/>
              </a:ext>
            </a:extLst>
          </p:cNvPr>
          <p:cNvSpPr>
            <a:spLocks noGrp="1"/>
          </p:cNvSpPr>
          <p:nvPr>
            <p:ph type="sldNum" sz="quarter" idx="12"/>
          </p:nvPr>
        </p:nvSpPr>
        <p:spPr/>
        <p:txBody>
          <a:bodyPr/>
          <a:lstStyle/>
          <a:p>
            <a:fld id="{517687EB-3E51-4A51-B936-5166187E0591}" type="slidenum">
              <a:rPr lang="en-IN" smtClean="0"/>
              <a:t>‹#›</a:t>
            </a:fld>
            <a:endParaRPr lang="en-IN"/>
          </a:p>
        </p:txBody>
      </p:sp>
    </p:spTree>
    <p:extLst>
      <p:ext uri="{BB962C8B-B14F-4D97-AF65-F5344CB8AC3E}">
        <p14:creationId xmlns:p14="http://schemas.microsoft.com/office/powerpoint/2010/main" val="3784913327"/>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4204BB61-AB38-19D0-0496-C2D738DD28B0}"/>
              </a:ext>
            </a:extLst>
          </p:cNvPr>
          <p:cNvSpPr>
            <a:spLocks noGrp="1"/>
          </p:cNvSpPr>
          <p:nvPr>
            <p:ph type="title" orient="vert"/>
          </p:nvPr>
        </p:nvSpPr>
        <p:spPr>
          <a:xfrm>
            <a:off x="8724900" y="365125"/>
            <a:ext cx="2628900" cy="5811838"/>
          </a:xfrm>
        </p:spPr>
        <p:txBody>
          <a:bodyPr vert="eaVert"/>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3F188DE0-AD30-851D-A53E-4811DA602AAB}"/>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599EE881-8757-1357-8362-09DFE16875D0}"/>
              </a:ext>
            </a:extLst>
          </p:cNvPr>
          <p:cNvSpPr>
            <a:spLocks noGrp="1"/>
          </p:cNvSpPr>
          <p:nvPr>
            <p:ph type="dt" sz="half" idx="10"/>
          </p:nvPr>
        </p:nvSpPr>
        <p:spPr/>
        <p:txBody>
          <a:bodyPr/>
          <a:lstStyle/>
          <a:p>
            <a:fld id="{2A724C43-C7FE-4E23-BD4D-1C6A3CDFDD9B}" type="datetimeFigureOut">
              <a:rPr lang="en-IN" smtClean="0"/>
              <a:t>09-07-2026</a:t>
            </a:fld>
            <a:endParaRPr lang="en-IN"/>
          </a:p>
        </p:txBody>
      </p:sp>
      <p:sp>
        <p:nvSpPr>
          <p:cNvPr id="5" name="Footer Placeholder 4">
            <a:extLst>
              <a:ext uri="{FF2B5EF4-FFF2-40B4-BE49-F238E27FC236}">
                <a16:creationId xmlns:a16="http://schemas.microsoft.com/office/drawing/2014/main" id="{FB9DD39E-7EC3-9455-0303-4EAB5D7E3D20}"/>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E529F89D-0A80-41D1-5C6F-411AFD040A06}"/>
              </a:ext>
            </a:extLst>
          </p:cNvPr>
          <p:cNvSpPr>
            <a:spLocks noGrp="1"/>
          </p:cNvSpPr>
          <p:nvPr>
            <p:ph type="sldNum" sz="quarter" idx="12"/>
          </p:nvPr>
        </p:nvSpPr>
        <p:spPr/>
        <p:txBody>
          <a:bodyPr/>
          <a:lstStyle/>
          <a:p>
            <a:fld id="{517687EB-3E51-4A51-B936-5166187E0591}" type="slidenum">
              <a:rPr lang="en-IN" smtClean="0"/>
              <a:t>‹#›</a:t>
            </a:fld>
            <a:endParaRPr lang="en-IN"/>
          </a:p>
        </p:txBody>
      </p:sp>
    </p:spTree>
    <p:extLst>
      <p:ext uri="{BB962C8B-B14F-4D97-AF65-F5344CB8AC3E}">
        <p14:creationId xmlns:p14="http://schemas.microsoft.com/office/powerpoint/2010/main" val="3686035617"/>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3C4AA278-058A-763C-4A0F-B2B41AE275A4}"/>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IN"/>
          </a:p>
        </p:txBody>
      </p:sp>
      <p:sp>
        <p:nvSpPr>
          <p:cNvPr id="3" name="Text Placeholder 2">
            <a:extLst>
              <a:ext uri="{FF2B5EF4-FFF2-40B4-BE49-F238E27FC236}">
                <a16:creationId xmlns:a16="http://schemas.microsoft.com/office/drawing/2014/main" id="{102A9B64-23E8-9202-E6C8-B2A64E6924B1}"/>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CA6D3FD3-5EC7-DD56-8255-C30C4AD21880}"/>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2A724C43-C7FE-4E23-BD4D-1C6A3CDFDD9B}" type="datetimeFigureOut">
              <a:rPr lang="en-IN" smtClean="0"/>
              <a:t>09-07-2026</a:t>
            </a:fld>
            <a:endParaRPr lang="en-IN"/>
          </a:p>
        </p:txBody>
      </p:sp>
      <p:sp>
        <p:nvSpPr>
          <p:cNvPr id="5" name="Footer Placeholder 4">
            <a:extLst>
              <a:ext uri="{FF2B5EF4-FFF2-40B4-BE49-F238E27FC236}">
                <a16:creationId xmlns:a16="http://schemas.microsoft.com/office/drawing/2014/main" id="{13014658-D45A-2D10-7D7D-3A77A1610A47}"/>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IN"/>
          </a:p>
        </p:txBody>
      </p:sp>
      <p:sp>
        <p:nvSpPr>
          <p:cNvPr id="6" name="Slide Number Placeholder 5">
            <a:extLst>
              <a:ext uri="{FF2B5EF4-FFF2-40B4-BE49-F238E27FC236}">
                <a16:creationId xmlns:a16="http://schemas.microsoft.com/office/drawing/2014/main" id="{0FE845DE-17AC-2EEB-22F1-F768AF1DAFBD}"/>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517687EB-3E51-4A51-B936-5166187E0591}" type="slidenum">
              <a:rPr lang="en-IN" smtClean="0"/>
              <a:t>‹#›</a:t>
            </a:fld>
            <a:endParaRPr lang="en-IN"/>
          </a:p>
        </p:txBody>
      </p:sp>
    </p:spTree>
    <p:extLst>
      <p:ext uri="{BB962C8B-B14F-4D97-AF65-F5344CB8AC3E}">
        <p14:creationId xmlns:p14="http://schemas.microsoft.com/office/powerpoint/2010/main" val="128983905"/>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image" Target="../media/image1.jpeg"/><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png"/><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1.xml"/><Relationship Id="rId1" Type="http://schemas.openxmlformats.org/officeDocument/2006/relationships/slideLayout" Target="../slideLayouts/slideLayout7.xml"/><Relationship Id="rId6" Type="http://schemas.openxmlformats.org/officeDocument/2006/relationships/image" Target="../media/image8.png"/><Relationship Id="rId5" Type="http://schemas.openxmlformats.org/officeDocument/2006/relationships/image" Target="../media/image7.jpeg"/><Relationship Id="rId4" Type="http://schemas.openxmlformats.org/officeDocument/2006/relationships/image" Target="../media/image6.png"/></Relationships>
</file>

<file path=ppt/slides/_rels/slide14.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7.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descr="Admissions - VSB Engineering College Karur">
            <a:extLst>
              <a:ext uri="{FF2B5EF4-FFF2-40B4-BE49-F238E27FC236}">
                <a16:creationId xmlns:a16="http://schemas.microsoft.com/office/drawing/2014/main" id="{7F2CBEB9-09A5-05CE-8521-E584F14B6720}"/>
              </a:ext>
            </a:extLst>
          </p:cNvPr>
          <p:cNvPicPr>
            <a:picLocks noChangeAspect="1"/>
          </p:cNvPicPr>
          <p:nvPr/>
        </p:nvPicPr>
        <p:blipFill>
          <a:blip r:embed="rId2"/>
          <a:srcRect l="21786"/>
          <a:stretch>
            <a:fillRect/>
          </a:stretch>
        </p:blipFill>
        <p:spPr>
          <a:xfrm>
            <a:off x="2497395" y="0"/>
            <a:ext cx="9694605" cy="1356852"/>
          </a:xfrm>
          <a:prstGeom prst="rect">
            <a:avLst/>
          </a:prstGeom>
        </p:spPr>
      </p:pic>
      <p:pic>
        <p:nvPicPr>
          <p:cNvPr id="3" name="Picture 2" descr="VSB Engineering College, Karur – Faculty Recruitment 2025 - Facultytub">
            <a:extLst>
              <a:ext uri="{FF2B5EF4-FFF2-40B4-BE49-F238E27FC236}">
                <a16:creationId xmlns:a16="http://schemas.microsoft.com/office/drawing/2014/main" id="{F63967D4-9891-F9ED-2B2C-499DFC6B2245}"/>
              </a:ext>
            </a:extLst>
          </p:cNvPr>
          <p:cNvPicPr>
            <a:picLocks noChangeAspect="1"/>
          </p:cNvPicPr>
          <p:nvPr/>
        </p:nvPicPr>
        <p:blipFill>
          <a:blip r:embed="rId3"/>
          <a:srcRect l="21440" r="18658"/>
          <a:stretch>
            <a:fillRect/>
          </a:stretch>
        </p:blipFill>
        <p:spPr>
          <a:xfrm>
            <a:off x="334296" y="1"/>
            <a:ext cx="1799303" cy="1533832"/>
          </a:xfrm>
          <a:prstGeom prst="rect">
            <a:avLst/>
          </a:prstGeom>
        </p:spPr>
      </p:pic>
      <p:sp>
        <p:nvSpPr>
          <p:cNvPr id="4" name="Rectangle 3">
            <a:extLst>
              <a:ext uri="{FF2B5EF4-FFF2-40B4-BE49-F238E27FC236}">
                <a16:creationId xmlns:a16="http://schemas.microsoft.com/office/drawing/2014/main" id="{3559F6FE-0649-EA95-2831-D354EC8053F4}"/>
              </a:ext>
            </a:extLst>
          </p:cNvPr>
          <p:cNvSpPr/>
          <p:nvPr/>
        </p:nvSpPr>
        <p:spPr>
          <a:xfrm>
            <a:off x="0" y="1651818"/>
            <a:ext cx="12192000" cy="1533832"/>
          </a:xfrm>
          <a:prstGeom prst="rect">
            <a:avLst/>
          </a:prstGeom>
        </p:spPr>
        <p:style>
          <a:lnRef idx="1">
            <a:schemeClr val="accent6"/>
          </a:lnRef>
          <a:fillRef idx="3">
            <a:schemeClr val="accent6"/>
          </a:fillRef>
          <a:effectRef idx="2">
            <a:schemeClr val="accent6"/>
          </a:effectRef>
          <a:fontRef idx="minor">
            <a:schemeClr val="lt1"/>
          </a:fontRef>
        </p:style>
        <p:txBody>
          <a:bodyPr rtlCol="0" anchor="ctr"/>
          <a:lstStyle/>
          <a:p>
            <a:pPr algn="ctr"/>
            <a:r>
              <a:rPr lang="en-US" sz="4400" b="1" dirty="0">
                <a:solidFill>
                  <a:schemeClr val="accent6">
                    <a:lumMod val="50000"/>
                  </a:schemeClr>
                </a:solidFill>
                <a:latin typeface="Calibri (Headings)"/>
              </a:rPr>
              <a:t>FSLAKWS – Few Shot Language Agnostic Key Word Spotting System</a:t>
            </a:r>
            <a:endParaRPr lang="en-IN" sz="4400" b="1" dirty="0">
              <a:solidFill>
                <a:schemeClr val="accent6">
                  <a:lumMod val="50000"/>
                </a:schemeClr>
              </a:solidFill>
              <a:latin typeface="Calibri (Headings)"/>
            </a:endParaRPr>
          </a:p>
        </p:txBody>
      </p:sp>
      <p:sp>
        <p:nvSpPr>
          <p:cNvPr id="6" name="TextBox 5">
            <a:extLst>
              <a:ext uri="{FF2B5EF4-FFF2-40B4-BE49-F238E27FC236}">
                <a16:creationId xmlns:a16="http://schemas.microsoft.com/office/drawing/2014/main" id="{0A2771E4-F20A-9653-8ED0-D80B5FE031CC}"/>
              </a:ext>
            </a:extLst>
          </p:cNvPr>
          <p:cNvSpPr txBox="1"/>
          <p:nvPr/>
        </p:nvSpPr>
        <p:spPr>
          <a:xfrm>
            <a:off x="0" y="3303635"/>
            <a:ext cx="12191999" cy="3570208"/>
          </a:xfrm>
          <a:prstGeom prst="rect">
            <a:avLst/>
          </a:prstGeom>
          <a:noFill/>
        </p:spPr>
        <p:txBody>
          <a:bodyPr wrap="square">
            <a:spAutoFit/>
          </a:bodyPr>
          <a:lstStyle/>
          <a:p>
            <a:pPr algn="ctr"/>
            <a:r>
              <a:rPr lang="en-US" sz="3400" b="1" dirty="0"/>
              <a:t>Mini-project review</a:t>
            </a:r>
          </a:p>
          <a:p>
            <a:pPr algn="ctr"/>
            <a:r>
              <a:rPr lang="en-US" sz="3000" b="1" dirty="0">
                <a:solidFill>
                  <a:srgbClr val="C00000"/>
                </a:solidFill>
              </a:rPr>
              <a:t>Presented by,</a:t>
            </a:r>
            <a:br>
              <a:rPr lang="en-US" sz="3200" dirty="0"/>
            </a:br>
            <a:r>
              <a:rPr lang="en-US" sz="2800" b="1" dirty="0"/>
              <a:t>Vaisnava S – 922524148116</a:t>
            </a:r>
          </a:p>
          <a:p>
            <a:pPr algn="ctr"/>
            <a:r>
              <a:rPr lang="en-IN" sz="3000" b="1" dirty="0"/>
              <a:t> </a:t>
            </a:r>
            <a:r>
              <a:rPr lang="en-IN" sz="2600" b="1" dirty="0">
                <a:latin typeface="Calibri" panose="020F0502020204030204" pitchFamily="34" charset="0"/>
                <a:ea typeface="Calibri" panose="020F0502020204030204" pitchFamily="34" charset="0"/>
                <a:cs typeface="Calibri" panose="020F0502020204030204" pitchFamily="34" charset="0"/>
              </a:rPr>
              <a:t>BACHELOR OF ENGINEERING </a:t>
            </a:r>
            <a:br>
              <a:rPr lang="en-IN" sz="2600" b="1" dirty="0">
                <a:latin typeface="Calibri" panose="020F0502020204030204" pitchFamily="34" charset="0"/>
                <a:ea typeface="Calibri" panose="020F0502020204030204" pitchFamily="34" charset="0"/>
                <a:cs typeface="Calibri" panose="020F0502020204030204" pitchFamily="34" charset="0"/>
              </a:rPr>
            </a:br>
            <a:r>
              <a:rPr lang="en-IN" sz="2600" b="1" dirty="0">
                <a:latin typeface="Calibri" panose="020F0502020204030204" pitchFamily="34" charset="0"/>
                <a:ea typeface="Calibri" panose="020F0502020204030204" pitchFamily="34" charset="0"/>
                <a:cs typeface="Calibri" panose="020F0502020204030204" pitchFamily="34" charset="0"/>
              </a:rPr>
              <a:t>in </a:t>
            </a:r>
            <a:br>
              <a:rPr lang="en-IN" sz="2600" b="1" dirty="0">
                <a:latin typeface="Calibri" panose="020F0502020204030204" pitchFamily="34" charset="0"/>
                <a:ea typeface="Calibri" panose="020F0502020204030204" pitchFamily="34" charset="0"/>
                <a:cs typeface="Calibri" panose="020F0502020204030204" pitchFamily="34" charset="0"/>
              </a:rPr>
            </a:br>
            <a:r>
              <a:rPr lang="en-IN" sz="2600" b="1" dirty="0">
                <a:latin typeface="Calibri" panose="020F0502020204030204" pitchFamily="34" charset="0"/>
                <a:ea typeface="Calibri" panose="020F0502020204030204" pitchFamily="34" charset="0"/>
                <a:cs typeface="Calibri" panose="020F0502020204030204" pitchFamily="34" charset="0"/>
              </a:rPr>
              <a:t>COMPUTER SCIENCE AND ENGINEERING </a:t>
            </a:r>
          </a:p>
          <a:p>
            <a:pPr algn="ctr"/>
            <a:r>
              <a:rPr lang="en-IN" sz="2600" b="1" dirty="0">
                <a:latin typeface="Calibri" panose="020F0502020204030204" pitchFamily="34" charset="0"/>
                <a:ea typeface="Calibri" panose="020F0502020204030204" pitchFamily="34" charset="0"/>
                <a:cs typeface="Calibri" panose="020F0502020204030204" pitchFamily="34" charset="0"/>
              </a:rPr>
              <a:t>(ARTIFICIAL INTELLIGENCE AND MACHINE LEARNING)</a:t>
            </a:r>
            <a:br>
              <a:rPr lang="en-IN" sz="2600" b="1" dirty="0">
                <a:latin typeface="Calibri" panose="020F0502020204030204" pitchFamily="34" charset="0"/>
                <a:ea typeface="Calibri" panose="020F0502020204030204" pitchFamily="34" charset="0"/>
                <a:cs typeface="Calibri" panose="020F0502020204030204" pitchFamily="34" charset="0"/>
              </a:rPr>
            </a:br>
            <a:endParaRPr lang="en-IN" sz="2600" b="1" dirty="0">
              <a:latin typeface="Calibri" panose="020F0502020204030204" pitchFamily="34" charset="0"/>
              <a:ea typeface="Calibri" panose="020F0502020204030204" pitchFamily="34" charset="0"/>
              <a:cs typeface="Calibri" panose="020F0502020204030204" pitchFamily="34" charset="0"/>
            </a:endParaRPr>
          </a:p>
        </p:txBody>
      </p:sp>
    </p:spTree>
    <p:extLst>
      <p:ext uri="{BB962C8B-B14F-4D97-AF65-F5344CB8AC3E}">
        <p14:creationId xmlns:p14="http://schemas.microsoft.com/office/powerpoint/2010/main" val="2906508"/>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62D4451-8B58-D0EB-C59B-63F28DE216C5}"/>
            </a:ext>
          </a:extLst>
        </p:cNvPr>
        <p:cNvGrpSpPr/>
        <p:nvPr/>
      </p:nvGrpSpPr>
      <p:grpSpPr>
        <a:xfrm>
          <a:off x="0" y="0"/>
          <a:ext cx="0" cy="0"/>
          <a:chOff x="0" y="0"/>
          <a:chExt cx="0" cy="0"/>
        </a:xfrm>
      </p:grpSpPr>
      <p:sp>
        <p:nvSpPr>
          <p:cNvPr id="2" name="Rectangle 1">
            <a:extLst>
              <a:ext uri="{FF2B5EF4-FFF2-40B4-BE49-F238E27FC236}">
                <a16:creationId xmlns:a16="http://schemas.microsoft.com/office/drawing/2014/main" id="{39D55C30-1690-932A-DB83-4A92C465C283}"/>
              </a:ext>
            </a:extLst>
          </p:cNvPr>
          <p:cNvSpPr/>
          <p:nvPr/>
        </p:nvSpPr>
        <p:spPr>
          <a:xfrm>
            <a:off x="0" y="245807"/>
            <a:ext cx="12192000" cy="609600"/>
          </a:xfrm>
          <a:prstGeom prst="rect">
            <a:avLst/>
          </a:prstGeom>
        </p:spPr>
        <p:style>
          <a:lnRef idx="3">
            <a:schemeClr val="lt1"/>
          </a:lnRef>
          <a:fillRef idx="1">
            <a:schemeClr val="accent6"/>
          </a:fillRef>
          <a:effectRef idx="1">
            <a:schemeClr val="accent6"/>
          </a:effectRef>
          <a:fontRef idx="minor">
            <a:schemeClr val="lt1"/>
          </a:fontRef>
        </p:style>
        <p:txBody>
          <a:bodyPr rtlCol="0" anchor="ctr"/>
          <a:lstStyle/>
          <a:p>
            <a:pPr algn="ctr"/>
            <a:r>
              <a:rPr lang="en-US" sz="3200" b="1" dirty="0"/>
              <a:t>Objectives</a:t>
            </a:r>
            <a:endParaRPr lang="en-IN" sz="3200" b="1" dirty="0"/>
          </a:p>
        </p:txBody>
      </p:sp>
      <p:sp>
        <p:nvSpPr>
          <p:cNvPr id="4" name="TextBox 3">
            <a:extLst>
              <a:ext uri="{FF2B5EF4-FFF2-40B4-BE49-F238E27FC236}">
                <a16:creationId xmlns:a16="http://schemas.microsoft.com/office/drawing/2014/main" id="{D1757696-2B93-E018-3855-8CCD3B790F18}"/>
              </a:ext>
            </a:extLst>
          </p:cNvPr>
          <p:cNvSpPr txBox="1"/>
          <p:nvPr/>
        </p:nvSpPr>
        <p:spPr>
          <a:xfrm>
            <a:off x="0" y="1416821"/>
            <a:ext cx="12192000" cy="3847207"/>
          </a:xfrm>
          <a:prstGeom prst="rect">
            <a:avLst/>
          </a:prstGeom>
          <a:noFill/>
        </p:spPr>
        <p:txBody>
          <a:bodyPr wrap="square">
            <a:spAutoFit/>
          </a:bodyPr>
          <a:lstStyle/>
          <a:p>
            <a:pPr marL="342900" indent="-342900" algn="l">
              <a:spcBef>
                <a:spcPts val="1200"/>
              </a:spcBef>
              <a:spcAft>
                <a:spcPts val="1200"/>
              </a:spcAft>
              <a:buFont typeface="Wingdings" panose="05000000000000000000" pitchFamily="2" charset="2"/>
              <a:buChar char="v"/>
            </a:pPr>
            <a:r>
              <a:rPr lang="en-IN" sz="2400" b="0" i="0" dirty="0">
                <a:solidFill>
                  <a:srgbClr val="1F2328"/>
                </a:solidFill>
                <a:effectLst/>
                <a:latin typeface="Mona Sans VF"/>
              </a:rPr>
              <a:t>To build a system that learns a keyword from just 5 audio samples given by the user.</a:t>
            </a:r>
          </a:p>
          <a:p>
            <a:pPr marL="342900" indent="-342900" algn="l">
              <a:spcBef>
                <a:spcPts val="1200"/>
              </a:spcBef>
              <a:spcAft>
                <a:spcPts val="1200"/>
              </a:spcAft>
              <a:buFont typeface="Wingdings" panose="05000000000000000000" pitchFamily="2" charset="2"/>
              <a:buChar char="v"/>
            </a:pPr>
            <a:r>
              <a:rPr lang="en-IN" sz="2400" b="0" i="0" dirty="0">
                <a:solidFill>
                  <a:srgbClr val="1F2328"/>
                </a:solidFill>
                <a:effectLst/>
                <a:latin typeface="Mona Sans VF"/>
              </a:rPr>
              <a:t>To make the system work for any language like Tamil, Hindi, English, Telugu etc.</a:t>
            </a:r>
          </a:p>
          <a:p>
            <a:pPr marL="342900" indent="-342900" algn="l">
              <a:spcBef>
                <a:spcPts val="1200"/>
              </a:spcBef>
              <a:spcAft>
                <a:spcPts val="1200"/>
              </a:spcAft>
              <a:buFont typeface="Wingdings" panose="05000000000000000000" pitchFamily="2" charset="2"/>
              <a:buChar char="v"/>
            </a:pPr>
            <a:r>
              <a:rPr lang="en-IN" sz="2400" b="0" i="0" dirty="0">
                <a:solidFill>
                  <a:srgbClr val="1F2328"/>
                </a:solidFill>
                <a:effectLst/>
                <a:latin typeface="Mona Sans VF"/>
              </a:rPr>
              <a:t>To search and find every occurrence of that keyword inside a long audio file.</a:t>
            </a:r>
          </a:p>
          <a:p>
            <a:pPr marL="342900" indent="-342900" algn="l">
              <a:spcBef>
                <a:spcPts val="1200"/>
              </a:spcBef>
              <a:spcAft>
                <a:spcPts val="1200"/>
              </a:spcAft>
              <a:buFont typeface="Wingdings" panose="05000000000000000000" pitchFamily="2" charset="2"/>
              <a:buChar char="v"/>
            </a:pPr>
            <a:r>
              <a:rPr lang="en-IN" sz="2400" b="0" i="0" dirty="0">
                <a:solidFill>
                  <a:srgbClr val="1F2328"/>
                </a:solidFill>
                <a:effectLst/>
                <a:latin typeface="Mona Sans VF"/>
              </a:rPr>
              <a:t>To display every timestamp where the keyword was spoken in the audio.</a:t>
            </a:r>
          </a:p>
          <a:p>
            <a:pPr marL="342900" indent="-342900" algn="l">
              <a:spcBef>
                <a:spcPts val="1200"/>
              </a:spcBef>
              <a:spcAft>
                <a:spcPts val="1200"/>
              </a:spcAft>
              <a:buFont typeface="Wingdings" panose="05000000000000000000" pitchFamily="2" charset="2"/>
              <a:buChar char="v"/>
            </a:pPr>
            <a:r>
              <a:rPr lang="en-IN" sz="2400" b="0" i="0" dirty="0">
                <a:solidFill>
                  <a:srgbClr val="1F2328"/>
                </a:solidFill>
                <a:effectLst/>
                <a:latin typeface="Mona Sans VF"/>
              </a:rPr>
              <a:t>To build a complete web application with login, dashboard and keyword search features.</a:t>
            </a:r>
          </a:p>
          <a:p>
            <a:pPr marL="342900" indent="-342900" algn="l">
              <a:spcBef>
                <a:spcPts val="1200"/>
              </a:spcBef>
              <a:spcAft>
                <a:spcPts val="1200"/>
              </a:spcAft>
              <a:buFont typeface="Wingdings" panose="05000000000000000000" pitchFamily="2" charset="2"/>
              <a:buChar char="v"/>
            </a:pPr>
            <a:r>
              <a:rPr lang="en-IN" sz="2400" b="0" i="0" dirty="0">
                <a:solidFill>
                  <a:srgbClr val="1F2328"/>
                </a:solidFill>
                <a:effectLst/>
                <a:latin typeface="Mona Sans VF"/>
              </a:rPr>
              <a:t>To store all search history and results in a database.</a:t>
            </a:r>
          </a:p>
        </p:txBody>
      </p:sp>
    </p:spTree>
    <p:extLst>
      <p:ext uri="{BB962C8B-B14F-4D97-AF65-F5344CB8AC3E}">
        <p14:creationId xmlns:p14="http://schemas.microsoft.com/office/powerpoint/2010/main" val="3186974115"/>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D9453DB7-0D80-FF48-9C55-958FFB2B9758}"/>
              </a:ext>
            </a:extLst>
          </p:cNvPr>
          <p:cNvSpPr/>
          <p:nvPr/>
        </p:nvSpPr>
        <p:spPr>
          <a:xfrm>
            <a:off x="0" y="254563"/>
            <a:ext cx="12192000" cy="609600"/>
          </a:xfrm>
          <a:prstGeom prst="rect">
            <a:avLst/>
          </a:prstGeom>
        </p:spPr>
        <p:style>
          <a:lnRef idx="3">
            <a:schemeClr val="lt1"/>
          </a:lnRef>
          <a:fillRef idx="1">
            <a:schemeClr val="accent6"/>
          </a:fillRef>
          <a:effectRef idx="1">
            <a:schemeClr val="accent6"/>
          </a:effectRef>
          <a:fontRef idx="minor">
            <a:schemeClr val="lt1"/>
          </a:fontRef>
        </p:style>
        <p:txBody>
          <a:bodyPr rtlCol="0" anchor="ctr"/>
          <a:lstStyle/>
          <a:p>
            <a:pPr algn="ctr"/>
            <a:r>
              <a:rPr lang="en-US" sz="3200" b="1" dirty="0"/>
              <a:t>Description</a:t>
            </a:r>
            <a:endParaRPr lang="en-IN" sz="3200" b="1" dirty="0"/>
          </a:p>
        </p:txBody>
      </p:sp>
      <p:sp>
        <p:nvSpPr>
          <p:cNvPr id="5" name="TextBox 4">
            <a:extLst>
              <a:ext uri="{FF2B5EF4-FFF2-40B4-BE49-F238E27FC236}">
                <a16:creationId xmlns:a16="http://schemas.microsoft.com/office/drawing/2014/main" id="{E84EC83D-CE5E-F993-65EF-DA72BB161AF5}"/>
              </a:ext>
            </a:extLst>
          </p:cNvPr>
          <p:cNvSpPr txBox="1"/>
          <p:nvPr/>
        </p:nvSpPr>
        <p:spPr>
          <a:xfrm>
            <a:off x="0" y="942670"/>
            <a:ext cx="12192000" cy="5970865"/>
          </a:xfrm>
          <a:prstGeom prst="rect">
            <a:avLst/>
          </a:prstGeom>
          <a:noFill/>
        </p:spPr>
        <p:txBody>
          <a:bodyPr wrap="square">
            <a:spAutoFit/>
          </a:bodyPr>
          <a:lstStyle/>
          <a:p>
            <a:pPr marL="285750" indent="-285750">
              <a:spcAft>
                <a:spcPts val="1200"/>
              </a:spcAft>
              <a:buFont typeface="Arial" panose="020B0604020202020204" pitchFamily="34" charset="0"/>
              <a:buChar char="•"/>
            </a:pPr>
            <a:r>
              <a:rPr lang="en-IN" sz="2400" dirty="0">
                <a:solidFill>
                  <a:srgbClr val="1F2328"/>
                </a:solidFill>
                <a:latin typeface="Mona Sans VF"/>
              </a:rPr>
              <a:t>FSLAKWS stands for </a:t>
            </a:r>
            <a:r>
              <a:rPr lang="en-IN" sz="2400" b="1" dirty="0"/>
              <a:t>Few Shot Language Agnostic Key Word Spotting System </a:t>
            </a:r>
          </a:p>
          <a:p>
            <a:pPr marL="285750" indent="-285750">
              <a:spcAft>
                <a:spcPts val="1200"/>
              </a:spcAft>
              <a:buFont typeface="Arial" panose="020B0604020202020204" pitchFamily="34" charset="0"/>
              <a:buChar char="•"/>
            </a:pPr>
            <a:r>
              <a:rPr lang="en-IN" sz="2400" dirty="0">
                <a:solidFill>
                  <a:srgbClr val="1F2328"/>
                </a:solidFill>
                <a:latin typeface="Mona Sans VF"/>
              </a:rPr>
              <a:t>This project is an audio keyword search system. It is employed to search and find a specific keyword in an audio. It works for ANY word defined by user in ANY language. The system finds the word and present it with every timestamps it was spoken in the audio</a:t>
            </a:r>
          </a:p>
          <a:p>
            <a:pPr marL="285750" indent="-285750">
              <a:spcAft>
                <a:spcPts val="1200"/>
              </a:spcAft>
              <a:buFont typeface="Arial" panose="020B0604020202020204" pitchFamily="34" charset="0"/>
              <a:buChar char="•"/>
            </a:pPr>
            <a:r>
              <a:rPr lang="en-IN" sz="2400" dirty="0"/>
              <a:t>It is like Ctrl + F which is used to find a specific word in a text. But here it search and find for a specific word in an audio.</a:t>
            </a:r>
          </a:p>
          <a:p>
            <a:pPr marL="285750" indent="-285750">
              <a:spcAft>
                <a:spcPts val="1200"/>
              </a:spcAft>
              <a:buFont typeface="Arial" panose="020B0604020202020204" pitchFamily="34" charset="0"/>
              <a:buChar char="•"/>
            </a:pPr>
            <a:r>
              <a:rPr lang="en-IN" sz="2400" dirty="0"/>
              <a:t>It uses </a:t>
            </a:r>
            <a:r>
              <a:rPr lang="en-IN" sz="2400" b="1" dirty="0"/>
              <a:t>Mel-Frequency Cepstral Coefficients (MFCC) </a:t>
            </a:r>
            <a:r>
              <a:rPr lang="en-IN" sz="2400" dirty="0"/>
              <a:t>for audio feature extraction, </a:t>
            </a:r>
            <a:r>
              <a:rPr lang="en-IN" sz="2400" b="1" dirty="0"/>
              <a:t>Dynamic time wrapping</a:t>
            </a:r>
            <a:r>
              <a:rPr lang="en-IN" sz="2400" dirty="0"/>
              <a:t> based pattern matching to detect key word and </a:t>
            </a:r>
            <a:r>
              <a:rPr lang="en-IN" sz="2400" b="1" dirty="0"/>
              <a:t>Speech recognition API </a:t>
            </a:r>
            <a:r>
              <a:rPr lang="en-IN" sz="2400" dirty="0"/>
              <a:t>for keyword verification. </a:t>
            </a:r>
          </a:p>
          <a:p>
            <a:pPr marL="285750" indent="-285750">
              <a:buFont typeface="Arial" panose="020B0604020202020204" pitchFamily="34" charset="0"/>
              <a:buChar char="•"/>
            </a:pPr>
            <a:r>
              <a:rPr lang="en-IN" sz="2400" dirty="0"/>
              <a:t>It does not uses neural network and any kind of Deep learning models.</a:t>
            </a:r>
          </a:p>
          <a:p>
            <a:pPr>
              <a:lnSpc>
                <a:spcPct val="150000"/>
              </a:lnSpc>
            </a:pPr>
            <a:br>
              <a:rPr lang="en-IN" dirty="0"/>
            </a:br>
            <a:endParaRPr lang="en-IN" sz="1400" b="0" i="0" dirty="0">
              <a:solidFill>
                <a:srgbClr val="1F2328"/>
              </a:solidFill>
              <a:effectLst/>
              <a:latin typeface="Mona Sans VF"/>
            </a:endParaRPr>
          </a:p>
          <a:p>
            <a:pPr>
              <a:buNone/>
            </a:pPr>
            <a:br>
              <a:rPr lang="en-IN" dirty="0"/>
            </a:br>
            <a:endParaRPr lang="en-IN" dirty="0"/>
          </a:p>
          <a:p>
            <a:pPr marL="285750" indent="-285750">
              <a:spcAft>
                <a:spcPts val="1200"/>
              </a:spcAft>
              <a:buFont typeface="Arial" panose="020B0604020202020204" pitchFamily="34" charset="0"/>
              <a:buChar char="•"/>
            </a:pPr>
            <a:endParaRPr lang="en-IN" dirty="0"/>
          </a:p>
        </p:txBody>
      </p:sp>
    </p:spTree>
    <p:extLst>
      <p:ext uri="{BB962C8B-B14F-4D97-AF65-F5344CB8AC3E}">
        <p14:creationId xmlns:p14="http://schemas.microsoft.com/office/powerpoint/2010/main" val="3229978116"/>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311A2C7A-6B79-3775-B869-751D6E7F81AA}"/>
              </a:ext>
            </a:extLst>
          </p:cNvPr>
          <p:cNvSpPr/>
          <p:nvPr/>
        </p:nvSpPr>
        <p:spPr>
          <a:xfrm>
            <a:off x="0" y="293893"/>
            <a:ext cx="12192000" cy="609600"/>
          </a:xfrm>
          <a:prstGeom prst="rect">
            <a:avLst/>
          </a:prstGeom>
        </p:spPr>
        <p:style>
          <a:lnRef idx="3">
            <a:schemeClr val="lt1"/>
          </a:lnRef>
          <a:fillRef idx="1">
            <a:schemeClr val="accent6"/>
          </a:fillRef>
          <a:effectRef idx="1">
            <a:schemeClr val="accent6"/>
          </a:effectRef>
          <a:fontRef idx="minor">
            <a:schemeClr val="lt1"/>
          </a:fontRef>
        </p:style>
        <p:txBody>
          <a:bodyPr rtlCol="0" anchor="ctr"/>
          <a:lstStyle/>
          <a:p>
            <a:pPr algn="ctr"/>
            <a:r>
              <a:rPr lang="en-US" sz="3200" b="1" dirty="0"/>
              <a:t>Abstract</a:t>
            </a:r>
            <a:endParaRPr lang="en-IN" sz="3200" b="1" dirty="0"/>
          </a:p>
        </p:txBody>
      </p:sp>
      <p:sp>
        <p:nvSpPr>
          <p:cNvPr id="5" name="TextBox 4">
            <a:extLst>
              <a:ext uri="{FF2B5EF4-FFF2-40B4-BE49-F238E27FC236}">
                <a16:creationId xmlns:a16="http://schemas.microsoft.com/office/drawing/2014/main" id="{B36695C9-8817-46D5-63AF-73D4DDDD520E}"/>
              </a:ext>
            </a:extLst>
          </p:cNvPr>
          <p:cNvSpPr txBox="1"/>
          <p:nvPr/>
        </p:nvSpPr>
        <p:spPr>
          <a:xfrm>
            <a:off x="0" y="1051314"/>
            <a:ext cx="12192000" cy="5262979"/>
          </a:xfrm>
          <a:prstGeom prst="rect">
            <a:avLst/>
          </a:prstGeom>
          <a:noFill/>
        </p:spPr>
        <p:txBody>
          <a:bodyPr wrap="square">
            <a:spAutoFit/>
          </a:bodyPr>
          <a:lstStyle/>
          <a:p>
            <a:pPr marL="342900" indent="-342900">
              <a:buFont typeface="Wingdings" panose="05000000000000000000" pitchFamily="2" charset="2"/>
              <a:buChar char="q"/>
            </a:pPr>
            <a:r>
              <a:rPr lang="en-IN" sz="2400" b="1" dirty="0"/>
              <a:t>The Problem:</a:t>
            </a:r>
            <a:endParaRPr lang="en-IN" sz="2400" dirty="0"/>
          </a:p>
          <a:p>
            <a:pPr marL="800100" lvl="1" indent="-342900">
              <a:buFont typeface="Wingdings" panose="05000000000000000000" pitchFamily="2" charset="2"/>
              <a:buChar char="ü"/>
            </a:pPr>
            <a:r>
              <a:rPr lang="en-IN" sz="2400" dirty="0"/>
              <a:t>Finding specific words in long audio files manually is tedious and time-consuming.</a:t>
            </a:r>
          </a:p>
          <a:p>
            <a:pPr marL="800100" lvl="1" indent="-342900">
              <a:buFont typeface="Wingdings" panose="05000000000000000000" pitchFamily="2" charset="2"/>
              <a:buChar char="ü"/>
            </a:pPr>
            <a:r>
              <a:rPr lang="en-IN" sz="2400" dirty="0"/>
              <a:t>Traditional Keyword Spotting (KWS) systems require thousands of training samples and are restricted to a single language.</a:t>
            </a:r>
          </a:p>
          <a:p>
            <a:pPr marL="342900" indent="-342900">
              <a:buFont typeface="Wingdings" panose="05000000000000000000" pitchFamily="2" charset="2"/>
              <a:buChar char="q"/>
            </a:pPr>
            <a:r>
              <a:rPr lang="en-IN" sz="2400" b="1" dirty="0"/>
              <a:t>The Solution:</a:t>
            </a:r>
            <a:endParaRPr lang="en-IN" sz="2400" dirty="0"/>
          </a:p>
          <a:p>
            <a:pPr marL="800100" lvl="1" indent="-342900">
              <a:buFont typeface="Wingdings" panose="05000000000000000000" pitchFamily="2" charset="2"/>
              <a:buChar char="ü"/>
            </a:pPr>
            <a:r>
              <a:rPr lang="en-IN" sz="2400" dirty="0"/>
              <a:t>A system that learns a user-defined keyword from just </a:t>
            </a:r>
            <a:r>
              <a:rPr lang="en-IN" sz="2400" b="1" dirty="0"/>
              <a:t>5 audio samples</a:t>
            </a:r>
            <a:r>
              <a:rPr lang="en-IN" sz="2400" dirty="0"/>
              <a:t>.</a:t>
            </a:r>
          </a:p>
          <a:p>
            <a:pPr marL="800100" lvl="1" indent="-342900">
              <a:buFont typeface="Wingdings" panose="05000000000000000000" pitchFamily="2" charset="2"/>
              <a:buChar char="ü"/>
            </a:pPr>
            <a:r>
              <a:rPr lang="en-IN" sz="2400" dirty="0"/>
              <a:t>Works across multiple languages (English, Tamil, Hindi, Telugu, etc.) without retraining.</a:t>
            </a:r>
          </a:p>
          <a:p>
            <a:pPr marL="742950" lvl="1" indent="-285750">
              <a:buFont typeface="Arial" panose="020B0604020202020204" pitchFamily="34" charset="0"/>
              <a:buChar char="•"/>
            </a:pPr>
            <a:endParaRPr lang="en-IN" sz="2400" b="0" i="0" dirty="0">
              <a:effectLst/>
            </a:endParaRPr>
          </a:p>
          <a:p>
            <a:pPr marL="285750" marR="0" indent="-285750" algn="l">
              <a:buFont typeface="Arial" panose="020B0604020202020204" pitchFamily="34" charset="0"/>
              <a:buChar char="•"/>
            </a:pPr>
            <a:r>
              <a:rPr lang="en-IN" sz="2400" b="0" i="0" dirty="0">
                <a:effectLst/>
              </a:rPr>
              <a:t>By extracting acoustic signatures using Mel-Frequency Cepstral Coefficients (MFCC) and aligning them using Dynamic Time Warping (DTW), the system performs language-independent matches and returns precise timestamps for occurrences in target audio files. </a:t>
            </a:r>
          </a:p>
          <a:p>
            <a:pPr marL="285750" marR="0" indent="-285750" algn="l">
              <a:buFont typeface="Arial" panose="020B0604020202020204" pitchFamily="34" charset="0"/>
              <a:buChar char="•"/>
            </a:pPr>
            <a:endParaRPr lang="en-IN" sz="2400" b="0" i="0" dirty="0">
              <a:effectLst/>
            </a:endParaRPr>
          </a:p>
          <a:p>
            <a:pPr marL="285750" marR="0" indent="-285750" algn="l">
              <a:buFont typeface="Arial" panose="020B0604020202020204" pitchFamily="34" charset="0"/>
              <a:buChar char="•"/>
            </a:pPr>
            <a:r>
              <a:rPr lang="en-IN" sz="2400" b="0" i="0" dirty="0">
                <a:effectLst/>
              </a:rPr>
              <a:t>The platform is packaged as a complete web application with secure user authentication, history tracking, and an admin management interface.</a:t>
            </a:r>
          </a:p>
        </p:txBody>
      </p:sp>
    </p:spTree>
    <p:extLst>
      <p:ext uri="{BB962C8B-B14F-4D97-AF65-F5344CB8AC3E}">
        <p14:creationId xmlns:p14="http://schemas.microsoft.com/office/powerpoint/2010/main" val="2959671299"/>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5D3B993-1A2C-3BE7-D11B-7D5AF9717A69}"/>
            </a:ext>
          </a:extLst>
        </p:cNvPr>
        <p:cNvGrpSpPr/>
        <p:nvPr/>
      </p:nvGrpSpPr>
      <p:grpSpPr>
        <a:xfrm>
          <a:off x="0" y="0"/>
          <a:ext cx="0" cy="0"/>
          <a:chOff x="0" y="0"/>
          <a:chExt cx="0" cy="0"/>
        </a:xfrm>
      </p:grpSpPr>
      <p:sp>
        <p:nvSpPr>
          <p:cNvPr id="3" name="Rectangle 2">
            <a:extLst>
              <a:ext uri="{FF2B5EF4-FFF2-40B4-BE49-F238E27FC236}">
                <a16:creationId xmlns:a16="http://schemas.microsoft.com/office/drawing/2014/main" id="{F8CD312F-5941-772B-3450-BEB7C1B9B444}"/>
              </a:ext>
            </a:extLst>
          </p:cNvPr>
          <p:cNvSpPr/>
          <p:nvPr/>
        </p:nvSpPr>
        <p:spPr>
          <a:xfrm>
            <a:off x="0" y="225067"/>
            <a:ext cx="12192000" cy="609600"/>
          </a:xfrm>
          <a:prstGeom prst="rect">
            <a:avLst/>
          </a:prstGeom>
        </p:spPr>
        <p:style>
          <a:lnRef idx="3">
            <a:schemeClr val="lt1"/>
          </a:lnRef>
          <a:fillRef idx="1">
            <a:schemeClr val="accent6"/>
          </a:fillRef>
          <a:effectRef idx="1">
            <a:schemeClr val="accent6"/>
          </a:effectRef>
          <a:fontRef idx="minor">
            <a:schemeClr val="lt1"/>
          </a:fontRef>
        </p:style>
        <p:txBody>
          <a:bodyPr rtlCol="0" anchor="ctr"/>
          <a:lstStyle/>
          <a:p>
            <a:pPr algn="ctr"/>
            <a:r>
              <a:rPr lang="en-US" sz="3200" b="1" dirty="0"/>
              <a:t>Technology stack</a:t>
            </a:r>
            <a:endParaRPr lang="en-IN" sz="3200" b="1" dirty="0"/>
          </a:p>
        </p:txBody>
      </p:sp>
      <p:sp>
        <p:nvSpPr>
          <p:cNvPr id="4" name="TextBox 3">
            <a:extLst>
              <a:ext uri="{FF2B5EF4-FFF2-40B4-BE49-F238E27FC236}">
                <a16:creationId xmlns:a16="http://schemas.microsoft.com/office/drawing/2014/main" id="{BD7A350E-E06B-1D69-9561-0C9C93989E63}"/>
              </a:ext>
            </a:extLst>
          </p:cNvPr>
          <p:cNvSpPr txBox="1"/>
          <p:nvPr/>
        </p:nvSpPr>
        <p:spPr>
          <a:xfrm>
            <a:off x="0" y="834667"/>
            <a:ext cx="12192000" cy="5940088"/>
          </a:xfrm>
          <a:prstGeom prst="rect">
            <a:avLst/>
          </a:prstGeom>
          <a:noFill/>
        </p:spPr>
        <p:txBody>
          <a:bodyPr wrap="square">
            <a:spAutoFit/>
          </a:bodyPr>
          <a:lstStyle/>
          <a:p>
            <a:pPr marL="285750" indent="-285750" algn="l">
              <a:buFont typeface="Wingdings" panose="05000000000000000000" pitchFamily="2" charset="2"/>
              <a:buChar char="v"/>
            </a:pPr>
            <a:r>
              <a:rPr lang="en-IN" sz="2000" b="1" i="0" dirty="0">
                <a:solidFill>
                  <a:srgbClr val="1F2328"/>
                </a:solidFill>
                <a:effectLst/>
                <a:latin typeface="Mona Sans VF"/>
              </a:rPr>
              <a:t>Frontend </a:t>
            </a:r>
          </a:p>
          <a:p>
            <a:pPr marL="342900" indent="-342900" algn="l">
              <a:buFont typeface="Arial" panose="020B0604020202020204" pitchFamily="34" charset="0"/>
              <a:buChar char="•"/>
            </a:pPr>
            <a:r>
              <a:rPr lang="en-IN" sz="2000" b="1" i="0" dirty="0">
                <a:solidFill>
                  <a:srgbClr val="1F2328"/>
                </a:solidFill>
                <a:effectLst/>
                <a:latin typeface="Mona Sans VF"/>
              </a:rPr>
              <a:t> </a:t>
            </a:r>
            <a:r>
              <a:rPr lang="en-IN" sz="2000" b="0" i="0" dirty="0">
                <a:solidFill>
                  <a:srgbClr val="1F2328"/>
                </a:solidFill>
                <a:effectLst/>
                <a:latin typeface="Mona Sans VF"/>
              </a:rPr>
              <a:t>React.js</a:t>
            </a:r>
          </a:p>
          <a:p>
            <a:pPr marL="342900" indent="-342900" algn="l">
              <a:buFont typeface="Arial" panose="020B0604020202020204" pitchFamily="34" charset="0"/>
              <a:buChar char="•"/>
            </a:pPr>
            <a:endParaRPr lang="en-IN" sz="2000" b="0" i="0" dirty="0">
              <a:solidFill>
                <a:srgbClr val="1F2328"/>
              </a:solidFill>
              <a:effectLst/>
              <a:latin typeface="Mona Sans VF"/>
            </a:endParaRPr>
          </a:p>
          <a:p>
            <a:pPr marL="285750" indent="-285750" algn="l">
              <a:buFont typeface="Wingdings" panose="05000000000000000000" pitchFamily="2" charset="2"/>
              <a:buChar char="v"/>
            </a:pPr>
            <a:r>
              <a:rPr lang="en-IN" sz="2000" b="1" i="0" dirty="0">
                <a:solidFill>
                  <a:srgbClr val="1F2328"/>
                </a:solidFill>
                <a:effectLst/>
                <a:latin typeface="Mona Sans VF"/>
              </a:rPr>
              <a:t>Backend </a:t>
            </a:r>
          </a:p>
          <a:p>
            <a:pPr marL="342900" indent="-342900" algn="l">
              <a:buFont typeface="Arial" panose="020B0604020202020204" pitchFamily="34" charset="0"/>
              <a:buChar char="•"/>
            </a:pPr>
            <a:r>
              <a:rPr lang="en-IN" sz="2000" b="0" i="0" dirty="0">
                <a:solidFill>
                  <a:srgbClr val="1F2328"/>
                </a:solidFill>
                <a:effectLst/>
                <a:latin typeface="Mona Sans VF"/>
              </a:rPr>
              <a:t>Spring Boot (Java)</a:t>
            </a:r>
          </a:p>
          <a:p>
            <a:pPr marL="342900" indent="-342900" algn="l">
              <a:buFont typeface="Arial" panose="020B0604020202020204" pitchFamily="34" charset="0"/>
              <a:buChar char="•"/>
            </a:pPr>
            <a:endParaRPr lang="en-IN" sz="2000" b="0" i="0" dirty="0">
              <a:solidFill>
                <a:srgbClr val="1F2328"/>
              </a:solidFill>
              <a:effectLst/>
              <a:latin typeface="Mona Sans VF"/>
            </a:endParaRPr>
          </a:p>
          <a:p>
            <a:pPr marL="285750" indent="-285750" algn="l">
              <a:buFont typeface="Wingdings" panose="05000000000000000000" pitchFamily="2" charset="2"/>
              <a:buChar char="v"/>
            </a:pPr>
            <a:r>
              <a:rPr lang="en-IN" sz="2000" b="1" dirty="0">
                <a:solidFill>
                  <a:srgbClr val="1F2328"/>
                </a:solidFill>
                <a:latin typeface="Mona Sans VF"/>
              </a:rPr>
              <a:t>Model</a:t>
            </a:r>
            <a:r>
              <a:rPr lang="en-IN" sz="2000" b="1" i="0" dirty="0">
                <a:solidFill>
                  <a:srgbClr val="1F2328"/>
                </a:solidFill>
                <a:effectLst/>
                <a:latin typeface="Mona Sans VF"/>
              </a:rPr>
              <a:t> </a:t>
            </a:r>
          </a:p>
          <a:p>
            <a:pPr marL="342900" indent="-342900" algn="l">
              <a:buFont typeface="Arial" panose="020B0604020202020204" pitchFamily="34" charset="0"/>
              <a:buChar char="•"/>
            </a:pPr>
            <a:r>
              <a:rPr lang="en-IN" sz="2000" b="0" i="0" dirty="0">
                <a:solidFill>
                  <a:srgbClr val="1F2328"/>
                </a:solidFill>
                <a:effectLst/>
                <a:latin typeface="Mona Sans VF"/>
              </a:rPr>
              <a:t>Python </a:t>
            </a:r>
          </a:p>
          <a:p>
            <a:pPr algn="l"/>
            <a:r>
              <a:rPr lang="en-IN" sz="2000" b="1" dirty="0">
                <a:solidFill>
                  <a:srgbClr val="1F2328"/>
                </a:solidFill>
                <a:latin typeface="Mona Sans VF"/>
              </a:rPr>
              <a:t>      List of Packages</a:t>
            </a:r>
          </a:p>
          <a:p>
            <a:pPr marL="342900" indent="-342900">
              <a:buFont typeface="+mj-lt"/>
              <a:buAutoNum type="arabicPeriod"/>
            </a:pPr>
            <a:endParaRPr lang="en-IN" sz="2000" b="0" i="0" dirty="0">
              <a:solidFill>
                <a:srgbClr val="1F2328"/>
              </a:solidFill>
              <a:effectLst/>
              <a:latin typeface="Mona Sans VF"/>
            </a:endParaRPr>
          </a:p>
          <a:p>
            <a:pPr marL="285750" indent="-285750" algn="l">
              <a:buFont typeface="Wingdings" panose="05000000000000000000" pitchFamily="2" charset="2"/>
              <a:buChar char="v"/>
            </a:pPr>
            <a:endParaRPr lang="en-IN" sz="2000" b="1" i="0" dirty="0">
              <a:solidFill>
                <a:srgbClr val="1F2328"/>
              </a:solidFill>
              <a:effectLst/>
              <a:latin typeface="Mona Sans VF"/>
            </a:endParaRPr>
          </a:p>
          <a:p>
            <a:pPr marL="285750" indent="-285750" algn="l">
              <a:buFont typeface="Wingdings" panose="05000000000000000000" pitchFamily="2" charset="2"/>
              <a:buChar char="v"/>
            </a:pPr>
            <a:endParaRPr lang="en-IN" sz="2000" b="1" dirty="0">
              <a:solidFill>
                <a:srgbClr val="1F2328"/>
              </a:solidFill>
              <a:latin typeface="Mona Sans VF"/>
            </a:endParaRPr>
          </a:p>
          <a:p>
            <a:pPr marL="285750" indent="-285750" algn="l">
              <a:buFont typeface="Wingdings" panose="05000000000000000000" pitchFamily="2" charset="2"/>
              <a:buChar char="v"/>
            </a:pPr>
            <a:endParaRPr lang="en-IN" sz="2000" b="1" i="0" dirty="0">
              <a:solidFill>
                <a:srgbClr val="1F2328"/>
              </a:solidFill>
              <a:effectLst/>
              <a:latin typeface="Mona Sans VF"/>
            </a:endParaRPr>
          </a:p>
          <a:p>
            <a:pPr marL="285750" indent="-285750" algn="l">
              <a:buFont typeface="Wingdings" panose="05000000000000000000" pitchFamily="2" charset="2"/>
              <a:buChar char="v"/>
            </a:pPr>
            <a:endParaRPr lang="en-IN" sz="2000" b="1" dirty="0">
              <a:solidFill>
                <a:srgbClr val="1F2328"/>
              </a:solidFill>
              <a:latin typeface="Mona Sans VF"/>
            </a:endParaRPr>
          </a:p>
          <a:p>
            <a:pPr marL="285750" indent="-285750" algn="l">
              <a:buFont typeface="Wingdings" panose="05000000000000000000" pitchFamily="2" charset="2"/>
              <a:buChar char="v"/>
            </a:pPr>
            <a:endParaRPr lang="en-IN" sz="2000" b="1" i="0" dirty="0">
              <a:solidFill>
                <a:srgbClr val="1F2328"/>
              </a:solidFill>
              <a:effectLst/>
              <a:latin typeface="Mona Sans VF"/>
            </a:endParaRPr>
          </a:p>
          <a:p>
            <a:pPr marL="285750" indent="-285750" algn="l">
              <a:buFont typeface="Wingdings" panose="05000000000000000000" pitchFamily="2" charset="2"/>
              <a:buChar char="v"/>
            </a:pPr>
            <a:endParaRPr lang="en-IN" sz="2000" b="1" dirty="0">
              <a:solidFill>
                <a:srgbClr val="1F2328"/>
              </a:solidFill>
              <a:latin typeface="Mona Sans VF"/>
            </a:endParaRPr>
          </a:p>
          <a:p>
            <a:pPr marL="285750" indent="-285750" algn="l">
              <a:buFont typeface="Wingdings" panose="05000000000000000000" pitchFamily="2" charset="2"/>
              <a:buChar char="v"/>
            </a:pPr>
            <a:endParaRPr lang="en-IN" sz="2000" b="1" i="0" dirty="0">
              <a:solidFill>
                <a:srgbClr val="1F2328"/>
              </a:solidFill>
              <a:effectLst/>
              <a:latin typeface="Mona Sans VF"/>
            </a:endParaRPr>
          </a:p>
          <a:p>
            <a:pPr marL="342900" indent="-342900" algn="l">
              <a:buFont typeface="Wingdings" panose="05000000000000000000" pitchFamily="2" charset="2"/>
              <a:buChar char="v"/>
            </a:pPr>
            <a:r>
              <a:rPr lang="en-IN" sz="2000" b="1" i="0" dirty="0">
                <a:solidFill>
                  <a:srgbClr val="1F2328"/>
                </a:solidFill>
                <a:effectLst/>
                <a:latin typeface="Mona Sans VF"/>
              </a:rPr>
              <a:t>Database </a:t>
            </a:r>
          </a:p>
          <a:p>
            <a:pPr marL="342900" indent="-342900" algn="l">
              <a:buFont typeface="Arial" panose="020B0604020202020204" pitchFamily="34" charset="0"/>
              <a:buChar char="•"/>
            </a:pPr>
            <a:r>
              <a:rPr lang="en-IN" sz="2000" b="0" i="0" dirty="0">
                <a:solidFill>
                  <a:srgbClr val="1F2328"/>
                </a:solidFill>
                <a:effectLst/>
                <a:latin typeface="Mona Sans VF"/>
              </a:rPr>
              <a:t>MySQL</a:t>
            </a:r>
          </a:p>
        </p:txBody>
      </p:sp>
      <p:sp>
        <p:nvSpPr>
          <p:cNvPr id="6" name="TextBox 5">
            <a:extLst>
              <a:ext uri="{FF2B5EF4-FFF2-40B4-BE49-F238E27FC236}">
                <a16:creationId xmlns:a16="http://schemas.microsoft.com/office/drawing/2014/main" id="{B3CD176A-65A2-DCB7-4C18-42F8B353D0A6}"/>
              </a:ext>
            </a:extLst>
          </p:cNvPr>
          <p:cNvSpPr txBox="1"/>
          <p:nvPr/>
        </p:nvSpPr>
        <p:spPr>
          <a:xfrm>
            <a:off x="1708354" y="3612025"/>
            <a:ext cx="6130412" cy="2554545"/>
          </a:xfrm>
          <a:prstGeom prst="rect">
            <a:avLst/>
          </a:prstGeom>
          <a:noFill/>
        </p:spPr>
        <p:txBody>
          <a:bodyPr wrap="square">
            <a:spAutoFit/>
          </a:bodyPr>
          <a:lstStyle/>
          <a:p>
            <a:pPr marL="342900" indent="-342900">
              <a:buFont typeface="+mj-lt"/>
              <a:buAutoNum type="arabicPeriod"/>
            </a:pPr>
            <a:r>
              <a:rPr lang="en-IN" sz="2000" dirty="0"/>
              <a:t>Flask</a:t>
            </a:r>
          </a:p>
          <a:p>
            <a:pPr marL="342900" indent="-342900">
              <a:buFont typeface="+mj-lt"/>
              <a:buAutoNum type="arabicPeriod"/>
            </a:pPr>
            <a:r>
              <a:rPr lang="en-IN" sz="2000" dirty="0"/>
              <a:t>Flask-</a:t>
            </a:r>
            <a:r>
              <a:rPr lang="en-IN" sz="2000" dirty="0" err="1"/>
              <a:t>Cors</a:t>
            </a:r>
            <a:endParaRPr lang="en-IN" sz="2000" dirty="0"/>
          </a:p>
          <a:p>
            <a:pPr marL="342900" indent="-342900">
              <a:buFont typeface="+mj-lt"/>
              <a:buAutoNum type="arabicPeriod"/>
            </a:pPr>
            <a:r>
              <a:rPr lang="en-IN" sz="2000" dirty="0" err="1"/>
              <a:t>librosa</a:t>
            </a:r>
            <a:endParaRPr lang="en-IN" sz="2000" dirty="0"/>
          </a:p>
          <a:p>
            <a:pPr marL="342900" indent="-342900">
              <a:buFont typeface="+mj-lt"/>
              <a:buAutoNum type="arabicPeriod"/>
            </a:pPr>
            <a:r>
              <a:rPr lang="en-IN" sz="2000" dirty="0" err="1"/>
              <a:t>numpy</a:t>
            </a:r>
            <a:endParaRPr lang="en-IN" sz="2000" dirty="0"/>
          </a:p>
          <a:p>
            <a:pPr marL="342900" indent="-342900">
              <a:buFont typeface="+mj-lt"/>
              <a:buAutoNum type="arabicPeriod"/>
            </a:pPr>
            <a:r>
              <a:rPr lang="en-IN" sz="2000" dirty="0" err="1"/>
              <a:t>fastdtw</a:t>
            </a:r>
            <a:endParaRPr lang="en-IN" sz="2000" dirty="0"/>
          </a:p>
          <a:p>
            <a:pPr marL="342900" indent="-342900">
              <a:buFont typeface="+mj-lt"/>
              <a:buAutoNum type="arabicPeriod"/>
            </a:pPr>
            <a:r>
              <a:rPr lang="en-IN" sz="2000" dirty="0" err="1"/>
              <a:t>scipy</a:t>
            </a:r>
            <a:endParaRPr lang="en-IN" sz="2000" dirty="0"/>
          </a:p>
          <a:p>
            <a:pPr marL="342900" indent="-342900">
              <a:buFont typeface="+mj-lt"/>
              <a:buAutoNum type="arabicPeriod"/>
            </a:pPr>
            <a:r>
              <a:rPr lang="en-IN" sz="2000" dirty="0" err="1"/>
              <a:t>pydub</a:t>
            </a:r>
            <a:endParaRPr lang="en-IN" sz="2000" dirty="0"/>
          </a:p>
          <a:p>
            <a:pPr marL="342900" indent="-342900">
              <a:buFont typeface="+mj-lt"/>
              <a:buAutoNum type="arabicPeriod"/>
            </a:pPr>
            <a:r>
              <a:rPr lang="en-IN" sz="2000" dirty="0" err="1"/>
              <a:t>SpeechRecognition</a:t>
            </a:r>
            <a:endParaRPr lang="en-IN" sz="2000" dirty="0"/>
          </a:p>
        </p:txBody>
      </p:sp>
    </p:spTree>
    <p:extLst>
      <p:ext uri="{BB962C8B-B14F-4D97-AF65-F5344CB8AC3E}">
        <p14:creationId xmlns:p14="http://schemas.microsoft.com/office/powerpoint/2010/main" val="2082646976"/>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F543EFC-93CE-5AB7-2DB9-01B880D8147A}"/>
            </a:ext>
          </a:extLst>
        </p:cNvPr>
        <p:cNvGrpSpPr/>
        <p:nvPr/>
      </p:nvGrpSpPr>
      <p:grpSpPr>
        <a:xfrm>
          <a:off x="0" y="0"/>
          <a:ext cx="0" cy="0"/>
          <a:chOff x="0" y="0"/>
          <a:chExt cx="0" cy="0"/>
        </a:xfrm>
      </p:grpSpPr>
      <p:sp>
        <p:nvSpPr>
          <p:cNvPr id="3" name="Rectangle 2">
            <a:extLst>
              <a:ext uri="{FF2B5EF4-FFF2-40B4-BE49-F238E27FC236}">
                <a16:creationId xmlns:a16="http://schemas.microsoft.com/office/drawing/2014/main" id="{9036C44E-E4E5-74F2-953F-950236E600AF}"/>
              </a:ext>
            </a:extLst>
          </p:cNvPr>
          <p:cNvSpPr/>
          <p:nvPr/>
        </p:nvSpPr>
        <p:spPr>
          <a:xfrm>
            <a:off x="0" y="175906"/>
            <a:ext cx="12192000" cy="609600"/>
          </a:xfrm>
          <a:prstGeom prst="rect">
            <a:avLst/>
          </a:prstGeom>
        </p:spPr>
        <p:style>
          <a:lnRef idx="3">
            <a:schemeClr val="lt1"/>
          </a:lnRef>
          <a:fillRef idx="1">
            <a:schemeClr val="accent6"/>
          </a:fillRef>
          <a:effectRef idx="1">
            <a:schemeClr val="accent6"/>
          </a:effectRef>
          <a:fontRef idx="minor">
            <a:schemeClr val="lt1"/>
          </a:fontRef>
        </p:style>
        <p:txBody>
          <a:bodyPr rtlCol="0" anchor="ctr"/>
          <a:lstStyle/>
          <a:p>
            <a:pPr algn="ctr"/>
            <a:r>
              <a:rPr lang="en-US" sz="3200" b="1" dirty="0"/>
              <a:t>Technology Stack Description</a:t>
            </a:r>
            <a:endParaRPr lang="en-IN" sz="3200" b="1" dirty="0"/>
          </a:p>
        </p:txBody>
      </p:sp>
      <p:sp>
        <p:nvSpPr>
          <p:cNvPr id="4" name="TextBox 3">
            <a:extLst>
              <a:ext uri="{FF2B5EF4-FFF2-40B4-BE49-F238E27FC236}">
                <a16:creationId xmlns:a16="http://schemas.microsoft.com/office/drawing/2014/main" id="{949D1E9C-47FA-BFFA-FFDA-0D9D0D1ACB82}"/>
              </a:ext>
            </a:extLst>
          </p:cNvPr>
          <p:cNvSpPr txBox="1"/>
          <p:nvPr/>
        </p:nvSpPr>
        <p:spPr>
          <a:xfrm>
            <a:off x="0" y="785506"/>
            <a:ext cx="12300155" cy="5632311"/>
          </a:xfrm>
          <a:prstGeom prst="rect">
            <a:avLst/>
          </a:prstGeom>
          <a:noFill/>
        </p:spPr>
        <p:txBody>
          <a:bodyPr wrap="square">
            <a:spAutoFit/>
          </a:bodyPr>
          <a:lstStyle/>
          <a:p>
            <a:pPr marL="0" marR="0" indent="0" algn="l">
              <a:buNone/>
            </a:pPr>
            <a:r>
              <a:rPr lang="en-IN" sz="2400" b="1" i="0" dirty="0">
                <a:effectLst/>
              </a:rPr>
              <a:t>React.js (Frontend / Presentation Layer)</a:t>
            </a:r>
            <a:endParaRPr lang="en-IN" sz="2400" b="0" i="0" dirty="0">
              <a:effectLst/>
            </a:endParaRPr>
          </a:p>
          <a:p>
            <a:pPr indent="0" algn="l">
              <a:buFont typeface="Arial" panose="020B0604020202020204" pitchFamily="34" charset="0"/>
              <a:buChar char="•"/>
            </a:pPr>
            <a:r>
              <a:rPr lang="en-IN" sz="2400" b="1" i="0" dirty="0">
                <a:effectLst/>
              </a:rPr>
              <a:t>Role:</a:t>
            </a:r>
            <a:r>
              <a:rPr lang="en-IN" sz="2400" b="0" i="0" dirty="0">
                <a:effectLst/>
              </a:rPr>
              <a:t> Drives the user interface and single-page navigation.</a:t>
            </a:r>
          </a:p>
          <a:p>
            <a:pPr indent="0" algn="l">
              <a:buFont typeface="Arial" panose="020B0604020202020204" pitchFamily="34" charset="0"/>
              <a:buChar char="•"/>
            </a:pPr>
            <a:r>
              <a:rPr lang="en-IN" sz="2400" b="1" i="0" dirty="0">
                <a:effectLst/>
              </a:rPr>
              <a:t>Key Features in Project:</a:t>
            </a:r>
            <a:endParaRPr lang="en-IN" sz="2400" b="0" i="0" dirty="0">
              <a:effectLst/>
            </a:endParaRPr>
          </a:p>
          <a:p>
            <a:pPr marL="742950" lvl="1" indent="-285750" algn="l">
              <a:buFont typeface="Arial" panose="020B0604020202020204" pitchFamily="34" charset="0"/>
              <a:buChar char="•"/>
            </a:pPr>
            <a:r>
              <a:rPr lang="en-IN" sz="2400" b="0" i="0" dirty="0">
                <a:effectLst/>
              </a:rPr>
              <a:t>Interactive </a:t>
            </a:r>
            <a:r>
              <a:rPr lang="en-IN" sz="2400" b="1" i="0" dirty="0">
                <a:effectLst/>
              </a:rPr>
              <a:t>Dashboard</a:t>
            </a:r>
            <a:r>
              <a:rPr lang="en-IN" sz="2400" b="0" i="0" dirty="0">
                <a:effectLst/>
              </a:rPr>
              <a:t> for uploading voice samples.</a:t>
            </a:r>
          </a:p>
          <a:p>
            <a:pPr marL="742950" lvl="1" indent="-285750" algn="l">
              <a:buFont typeface="Arial" panose="020B0604020202020204" pitchFamily="34" charset="0"/>
              <a:buChar char="•"/>
            </a:pPr>
            <a:r>
              <a:rPr lang="en-IN" sz="2400" b="0" i="0" dirty="0">
                <a:effectLst/>
              </a:rPr>
              <a:t>Visual representation of search results and timestamp markings.</a:t>
            </a:r>
          </a:p>
          <a:p>
            <a:pPr marL="742950" lvl="1" indent="-285750" algn="l">
              <a:buFont typeface="Arial" panose="020B0604020202020204" pitchFamily="34" charset="0"/>
              <a:buChar char="•"/>
            </a:pPr>
            <a:r>
              <a:rPr lang="en-IN" sz="2400" b="0" i="0" dirty="0">
                <a:effectLst/>
              </a:rPr>
              <a:t>State management to fetch and render user search histories in real time.</a:t>
            </a:r>
          </a:p>
          <a:p>
            <a:pPr marL="742950" lvl="1" indent="-285750" algn="l">
              <a:buFont typeface="Arial" panose="020B0604020202020204" pitchFamily="34" charset="0"/>
              <a:buChar char="•"/>
            </a:pPr>
            <a:endParaRPr lang="en-IN" sz="2400" b="0" i="0" dirty="0">
              <a:effectLst/>
            </a:endParaRPr>
          </a:p>
          <a:p>
            <a:pPr marL="0" marR="0" indent="0" algn="l">
              <a:buNone/>
            </a:pPr>
            <a:r>
              <a:rPr lang="en-IN" sz="2400" b="1" i="0" dirty="0">
                <a:effectLst/>
              </a:rPr>
              <a:t>Spring Boot (Backend / Business Logic Layer)</a:t>
            </a:r>
            <a:endParaRPr lang="en-IN" sz="2400" b="0" i="0" dirty="0">
              <a:effectLst/>
            </a:endParaRPr>
          </a:p>
          <a:p>
            <a:pPr indent="0" algn="l">
              <a:buFont typeface="Arial" panose="020B0604020202020204" pitchFamily="34" charset="0"/>
              <a:buChar char="•"/>
            </a:pPr>
            <a:r>
              <a:rPr lang="en-IN" sz="2400" b="1" i="0" dirty="0">
                <a:effectLst/>
              </a:rPr>
              <a:t>Role:</a:t>
            </a:r>
            <a:r>
              <a:rPr lang="en-IN" sz="2400" b="0" i="0" dirty="0">
                <a:effectLst/>
              </a:rPr>
              <a:t> Manages security, data persistence, and application orchestration.</a:t>
            </a:r>
          </a:p>
          <a:p>
            <a:pPr indent="0" algn="l">
              <a:buFont typeface="Arial" panose="020B0604020202020204" pitchFamily="34" charset="0"/>
              <a:buChar char="•"/>
            </a:pPr>
            <a:r>
              <a:rPr lang="en-IN" sz="2400" b="1" i="0" dirty="0">
                <a:effectLst/>
              </a:rPr>
              <a:t>Key Features in Project:</a:t>
            </a:r>
            <a:endParaRPr lang="en-IN" sz="2400" b="0" i="0" dirty="0">
              <a:effectLst/>
            </a:endParaRPr>
          </a:p>
          <a:p>
            <a:pPr marL="742950" lvl="1" indent="-285750" algn="l">
              <a:buFont typeface="Arial" panose="020B0604020202020204" pitchFamily="34" charset="0"/>
              <a:buChar char="•"/>
            </a:pPr>
            <a:r>
              <a:rPr lang="en-IN" sz="2400" b="0" i="0" dirty="0">
                <a:effectLst/>
              </a:rPr>
              <a:t>Exposes REST APIs for user authentication (</a:t>
            </a:r>
            <a:r>
              <a:rPr lang="en-IN" sz="2400" b="0" i="0" dirty="0" err="1">
                <a:effectLst/>
              </a:rPr>
              <a:t>AuthController</a:t>
            </a:r>
            <a:r>
              <a:rPr lang="en-IN" sz="2400" b="0" i="0" dirty="0">
                <a:effectLst/>
              </a:rPr>
              <a:t>).</a:t>
            </a:r>
          </a:p>
          <a:p>
            <a:pPr marL="742950" lvl="1" indent="-285750" algn="l">
              <a:buFont typeface="Arial" panose="020B0604020202020204" pitchFamily="34" charset="0"/>
              <a:buChar char="•"/>
            </a:pPr>
            <a:r>
              <a:rPr lang="en-IN" sz="2400" b="0" i="0" dirty="0">
                <a:effectLst/>
              </a:rPr>
              <a:t>Executes database operations using Spring Data JPA (</a:t>
            </a:r>
            <a:r>
              <a:rPr lang="en-IN" sz="2400" b="0" i="0" dirty="0" err="1">
                <a:effectLst/>
              </a:rPr>
              <a:t>SearchHistoryController</a:t>
            </a:r>
            <a:r>
              <a:rPr lang="en-IN" sz="2400" b="0" i="0" dirty="0">
                <a:effectLst/>
              </a:rPr>
              <a:t>, </a:t>
            </a:r>
            <a:r>
              <a:rPr lang="en-IN" sz="2400" b="0" i="0" dirty="0" err="1">
                <a:effectLst/>
              </a:rPr>
              <a:t>KeywordSampleController</a:t>
            </a:r>
            <a:r>
              <a:rPr lang="en-IN" sz="2400" b="0" i="0" dirty="0">
                <a:effectLst/>
              </a:rPr>
              <a:t>).</a:t>
            </a:r>
          </a:p>
          <a:p>
            <a:pPr marL="742950" lvl="1" indent="-285750" algn="l">
              <a:buFont typeface="Arial" panose="020B0604020202020204" pitchFamily="34" charset="0"/>
              <a:buChar char="•"/>
            </a:pPr>
            <a:r>
              <a:rPr lang="en-IN" sz="2400" b="0" i="0" dirty="0">
                <a:effectLst/>
              </a:rPr>
              <a:t>Orchestrates communication between the client front-end and the Python machine learning service.</a:t>
            </a:r>
          </a:p>
        </p:txBody>
      </p:sp>
    </p:spTree>
    <p:extLst>
      <p:ext uri="{BB962C8B-B14F-4D97-AF65-F5344CB8AC3E}">
        <p14:creationId xmlns:p14="http://schemas.microsoft.com/office/powerpoint/2010/main" val="2030141592"/>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62C5A32-998C-1D76-5A57-CF9427C4A952}"/>
            </a:ext>
          </a:extLst>
        </p:cNvPr>
        <p:cNvGrpSpPr/>
        <p:nvPr/>
      </p:nvGrpSpPr>
      <p:grpSpPr>
        <a:xfrm>
          <a:off x="0" y="0"/>
          <a:ext cx="0" cy="0"/>
          <a:chOff x="0" y="0"/>
          <a:chExt cx="0" cy="0"/>
        </a:xfrm>
      </p:grpSpPr>
      <p:sp>
        <p:nvSpPr>
          <p:cNvPr id="3" name="Rectangle 2">
            <a:extLst>
              <a:ext uri="{FF2B5EF4-FFF2-40B4-BE49-F238E27FC236}">
                <a16:creationId xmlns:a16="http://schemas.microsoft.com/office/drawing/2014/main" id="{A254E172-A37F-5E46-32BF-89265C2C2485}"/>
              </a:ext>
            </a:extLst>
          </p:cNvPr>
          <p:cNvSpPr/>
          <p:nvPr/>
        </p:nvSpPr>
        <p:spPr>
          <a:xfrm>
            <a:off x="0" y="107080"/>
            <a:ext cx="12192000" cy="609600"/>
          </a:xfrm>
          <a:prstGeom prst="rect">
            <a:avLst/>
          </a:prstGeom>
        </p:spPr>
        <p:style>
          <a:lnRef idx="3">
            <a:schemeClr val="lt1"/>
          </a:lnRef>
          <a:fillRef idx="1">
            <a:schemeClr val="accent6"/>
          </a:fillRef>
          <a:effectRef idx="1">
            <a:schemeClr val="accent6"/>
          </a:effectRef>
          <a:fontRef idx="minor">
            <a:schemeClr val="lt1"/>
          </a:fontRef>
        </p:style>
        <p:txBody>
          <a:bodyPr rtlCol="0" anchor="ctr"/>
          <a:lstStyle/>
          <a:p>
            <a:pPr algn="ctr"/>
            <a:r>
              <a:rPr lang="en-US" sz="3200" b="1" dirty="0"/>
              <a:t>Technology Stack Description</a:t>
            </a:r>
            <a:endParaRPr lang="en-IN" sz="3200" b="1" dirty="0"/>
          </a:p>
        </p:txBody>
      </p:sp>
      <p:sp>
        <p:nvSpPr>
          <p:cNvPr id="4" name="TextBox 3">
            <a:extLst>
              <a:ext uri="{FF2B5EF4-FFF2-40B4-BE49-F238E27FC236}">
                <a16:creationId xmlns:a16="http://schemas.microsoft.com/office/drawing/2014/main" id="{1FE19562-A2E3-7A55-D5B0-87CDA16A217F}"/>
              </a:ext>
            </a:extLst>
          </p:cNvPr>
          <p:cNvSpPr txBox="1"/>
          <p:nvPr/>
        </p:nvSpPr>
        <p:spPr>
          <a:xfrm>
            <a:off x="0" y="716680"/>
            <a:ext cx="12192000" cy="6247864"/>
          </a:xfrm>
          <a:prstGeom prst="rect">
            <a:avLst/>
          </a:prstGeom>
          <a:noFill/>
        </p:spPr>
        <p:txBody>
          <a:bodyPr wrap="square">
            <a:spAutoFit/>
          </a:bodyPr>
          <a:lstStyle/>
          <a:p>
            <a:pPr algn="l" rtl="0" eaLnBrk="0" fontAlgn="base" hangingPunct="0">
              <a:buNone/>
            </a:pPr>
            <a:r>
              <a:rPr lang="en-IN" sz="2000" b="1" kern="1200" dirty="0">
                <a:solidFill>
                  <a:srgbClr val="000000"/>
                </a:solidFill>
                <a:effectLst/>
                <a:ea typeface="+mn-ea"/>
                <a:cs typeface="Arial" panose="020B0604020202020204" pitchFamily="34" charset="0"/>
              </a:rPr>
              <a:t>PYTHON: </a:t>
            </a:r>
            <a:endParaRPr lang="en-IN" sz="2000" dirty="0">
              <a:effectLst/>
            </a:endParaRPr>
          </a:p>
          <a:p>
            <a:pPr algn="l" rtl="0" eaLnBrk="0" fontAlgn="base" hangingPunct="0">
              <a:buNone/>
            </a:pPr>
            <a:r>
              <a:rPr lang="en-US" sz="2000" kern="1200" dirty="0">
                <a:solidFill>
                  <a:srgbClr val="000000"/>
                </a:solidFill>
                <a:effectLst/>
                <a:ea typeface="+mn-ea"/>
                <a:cs typeface="Arial" panose="020B0604020202020204" pitchFamily="34" charset="0"/>
              </a:rPr>
              <a:t>               Python is one of the most widely used user-friendly programming languages. It is mostly used in Machine learning, Artificial intelligence, Big Data, GUI based desktop applications, and Robotics. </a:t>
            </a:r>
          </a:p>
          <a:p>
            <a:pPr algn="l" rtl="0" eaLnBrk="0" fontAlgn="base" hangingPunct="0">
              <a:buNone/>
            </a:pPr>
            <a:r>
              <a:rPr lang="en-IN" sz="2000" b="1" dirty="0">
                <a:effectLst/>
              </a:rPr>
              <a:t>List of modules:</a:t>
            </a:r>
          </a:p>
          <a:p>
            <a:r>
              <a:rPr lang="en-IN" sz="2000" b="1" dirty="0"/>
              <a:t>1. Flask</a:t>
            </a:r>
            <a:endParaRPr lang="en-IN" sz="2000" dirty="0"/>
          </a:p>
          <a:p>
            <a:pPr marL="342900" indent="-342900">
              <a:buFont typeface="Arial" panose="020B0604020202020204" pitchFamily="34" charset="0"/>
              <a:buChar char="•"/>
            </a:pPr>
            <a:r>
              <a:rPr lang="en-IN" sz="2000" dirty="0"/>
              <a:t>It hosts the Machine Learning service. It sets up the backend server, exposing two key API endpoints:</a:t>
            </a:r>
          </a:p>
          <a:p>
            <a:pPr marL="800100" lvl="1" indent="-342900">
              <a:buFont typeface="Wingdings" panose="05000000000000000000" pitchFamily="2" charset="2"/>
              <a:buChar char="ü"/>
            </a:pPr>
            <a:r>
              <a:rPr lang="en-IN" sz="2000" dirty="0"/>
              <a:t>POST /</a:t>
            </a:r>
            <a:r>
              <a:rPr lang="en-IN" sz="2000" dirty="0" err="1"/>
              <a:t>api</a:t>
            </a:r>
            <a:r>
              <a:rPr lang="en-IN" sz="2000" dirty="0"/>
              <a:t>/match</a:t>
            </a:r>
          </a:p>
          <a:p>
            <a:pPr marL="800100" lvl="1" indent="-342900">
              <a:buFont typeface="Wingdings" panose="05000000000000000000" pitchFamily="2" charset="2"/>
              <a:buChar char="ü"/>
            </a:pPr>
            <a:r>
              <a:rPr lang="en-IN" sz="2000" dirty="0"/>
              <a:t>GET /</a:t>
            </a:r>
            <a:r>
              <a:rPr lang="en-IN" sz="2000" dirty="0" err="1"/>
              <a:t>api</a:t>
            </a:r>
            <a:r>
              <a:rPr lang="en-IN" sz="2000" dirty="0"/>
              <a:t>/health</a:t>
            </a:r>
          </a:p>
          <a:p>
            <a:r>
              <a:rPr lang="en-IN" sz="2000" b="1" dirty="0"/>
              <a:t>2. Flask-CORS</a:t>
            </a:r>
            <a:endParaRPr lang="en-IN" sz="2000" dirty="0"/>
          </a:p>
          <a:p>
            <a:pPr marL="342900" indent="-342900">
              <a:buFont typeface="Arial" panose="020B0604020202020204" pitchFamily="34" charset="0"/>
              <a:buChar char="•"/>
            </a:pPr>
            <a:r>
              <a:rPr lang="en-IN" sz="2000" dirty="0"/>
              <a:t>It enables safe cross-origin communication (CORS(app)). Without it, modern web browsers would block requests sent from your React frontend (typically running on a different port) to the Python service.</a:t>
            </a:r>
          </a:p>
          <a:p>
            <a:r>
              <a:rPr lang="en-IN" sz="2000" b="1" dirty="0"/>
              <a:t>3. </a:t>
            </a:r>
            <a:r>
              <a:rPr lang="en-IN" sz="2000" b="1" dirty="0" err="1"/>
              <a:t>librosa</a:t>
            </a:r>
            <a:endParaRPr lang="en-IN" sz="2000" dirty="0"/>
          </a:p>
          <a:p>
            <a:pPr marL="342900" indent="-342900">
              <a:buFont typeface="Arial" panose="020B0604020202020204" pitchFamily="34" charset="0"/>
              <a:buChar char="•"/>
            </a:pPr>
            <a:r>
              <a:rPr lang="en-IN" sz="2000" dirty="0"/>
              <a:t>It is the core library used to read, decode, and </a:t>
            </a:r>
            <a:r>
              <a:rPr lang="en-IN" sz="2000" dirty="0" err="1"/>
              <a:t>analyze</a:t>
            </a:r>
            <a:r>
              <a:rPr lang="en-IN" sz="2000" dirty="0"/>
              <a:t> the raw audio files (</a:t>
            </a:r>
            <a:r>
              <a:rPr lang="en-IN" sz="2000" dirty="0" err="1"/>
              <a:t>librosa.load</a:t>
            </a:r>
            <a:r>
              <a:rPr lang="en-IN" sz="2000" dirty="0"/>
              <a:t>). Specifically, it extracts </a:t>
            </a:r>
            <a:r>
              <a:rPr lang="en-IN" sz="2000" b="1" dirty="0"/>
              <a:t>Mel-Frequency Cepstral Coefficients (MFCCs)</a:t>
            </a:r>
            <a:r>
              <a:rPr lang="en-IN" sz="2000" dirty="0"/>
              <a:t> (</a:t>
            </a:r>
            <a:r>
              <a:rPr lang="en-IN" sz="2000" dirty="0" err="1"/>
              <a:t>librosa.feature.mfcc</a:t>
            </a:r>
            <a:r>
              <a:rPr lang="en-IN" sz="2000" dirty="0"/>
              <a:t>), which capture the distinct acoustic "fingerprint" of the spoken words.</a:t>
            </a:r>
          </a:p>
          <a:p>
            <a:r>
              <a:rPr lang="en-IN" sz="2000" b="1" dirty="0"/>
              <a:t>4. </a:t>
            </a:r>
            <a:r>
              <a:rPr lang="en-IN" sz="2000" b="1" dirty="0" err="1"/>
              <a:t>numpy</a:t>
            </a:r>
            <a:endParaRPr lang="en-IN" sz="2000" dirty="0"/>
          </a:p>
          <a:p>
            <a:pPr marL="342900" indent="-342900">
              <a:buFont typeface="Arial" panose="020B0604020202020204" pitchFamily="34" charset="0"/>
              <a:buChar char="•"/>
            </a:pPr>
            <a:r>
              <a:rPr lang="en-IN" sz="2000" dirty="0"/>
              <a:t>It performs the mathematical operations on the extracted audio features:</a:t>
            </a:r>
          </a:p>
          <a:p>
            <a:pPr marL="800100" lvl="1" indent="-342900">
              <a:buFont typeface="Wingdings" panose="05000000000000000000" pitchFamily="2" charset="2"/>
              <a:buChar char="ü"/>
            </a:pPr>
            <a:r>
              <a:rPr lang="en-IN" sz="2000" dirty="0"/>
              <a:t>Resampling: </a:t>
            </a:r>
          </a:p>
          <a:p>
            <a:pPr marL="800100" lvl="1" indent="-342900">
              <a:buFont typeface="Wingdings" panose="05000000000000000000" pitchFamily="2" charset="2"/>
              <a:buChar char="ü"/>
            </a:pPr>
            <a:r>
              <a:rPr lang="en-IN" sz="2000" dirty="0"/>
              <a:t>Template Construction</a:t>
            </a:r>
          </a:p>
          <a:p>
            <a:pPr marL="800100" lvl="1" indent="-342900">
              <a:buFont typeface="Wingdings" panose="05000000000000000000" pitchFamily="2" charset="2"/>
              <a:buChar char="ü"/>
            </a:pPr>
            <a:r>
              <a:rPr lang="en-IN" sz="2000" dirty="0"/>
              <a:t>Dynamic Thresholding</a:t>
            </a:r>
            <a:endParaRPr lang="en-IN" sz="2000" dirty="0">
              <a:effectLst/>
            </a:endParaRPr>
          </a:p>
        </p:txBody>
      </p:sp>
    </p:spTree>
    <p:extLst>
      <p:ext uri="{BB962C8B-B14F-4D97-AF65-F5344CB8AC3E}">
        <p14:creationId xmlns:p14="http://schemas.microsoft.com/office/powerpoint/2010/main" val="168599135"/>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CBFB602-93CB-B5F7-5F28-25F6CC0CF62A}"/>
            </a:ext>
          </a:extLst>
        </p:cNvPr>
        <p:cNvGrpSpPr/>
        <p:nvPr/>
      </p:nvGrpSpPr>
      <p:grpSpPr>
        <a:xfrm>
          <a:off x="0" y="0"/>
          <a:ext cx="0" cy="0"/>
          <a:chOff x="0" y="0"/>
          <a:chExt cx="0" cy="0"/>
        </a:xfrm>
      </p:grpSpPr>
      <p:sp>
        <p:nvSpPr>
          <p:cNvPr id="3" name="Rectangle 2">
            <a:extLst>
              <a:ext uri="{FF2B5EF4-FFF2-40B4-BE49-F238E27FC236}">
                <a16:creationId xmlns:a16="http://schemas.microsoft.com/office/drawing/2014/main" id="{59A9074E-19A1-05F2-6865-5ADBB5DE8859}"/>
              </a:ext>
            </a:extLst>
          </p:cNvPr>
          <p:cNvSpPr/>
          <p:nvPr/>
        </p:nvSpPr>
        <p:spPr>
          <a:xfrm>
            <a:off x="0" y="47954"/>
            <a:ext cx="12192000" cy="609600"/>
          </a:xfrm>
          <a:prstGeom prst="rect">
            <a:avLst/>
          </a:prstGeom>
        </p:spPr>
        <p:style>
          <a:lnRef idx="3">
            <a:schemeClr val="lt1"/>
          </a:lnRef>
          <a:fillRef idx="1">
            <a:schemeClr val="accent6"/>
          </a:fillRef>
          <a:effectRef idx="1">
            <a:schemeClr val="accent6"/>
          </a:effectRef>
          <a:fontRef idx="minor">
            <a:schemeClr val="lt1"/>
          </a:fontRef>
        </p:style>
        <p:txBody>
          <a:bodyPr rtlCol="0" anchor="ctr"/>
          <a:lstStyle/>
          <a:p>
            <a:pPr algn="ctr"/>
            <a:r>
              <a:rPr lang="en-US" sz="3200" b="1" dirty="0"/>
              <a:t>Technology Stack Description</a:t>
            </a:r>
            <a:endParaRPr lang="en-IN" sz="3200" b="1" dirty="0"/>
          </a:p>
        </p:txBody>
      </p:sp>
      <p:sp>
        <p:nvSpPr>
          <p:cNvPr id="4" name="TextBox 3">
            <a:extLst>
              <a:ext uri="{FF2B5EF4-FFF2-40B4-BE49-F238E27FC236}">
                <a16:creationId xmlns:a16="http://schemas.microsoft.com/office/drawing/2014/main" id="{B9158B62-58E1-27AD-5522-CE035B8280DC}"/>
              </a:ext>
            </a:extLst>
          </p:cNvPr>
          <p:cNvSpPr txBox="1"/>
          <p:nvPr/>
        </p:nvSpPr>
        <p:spPr>
          <a:xfrm>
            <a:off x="0" y="715340"/>
            <a:ext cx="12191999" cy="6001643"/>
          </a:xfrm>
          <a:prstGeom prst="rect">
            <a:avLst/>
          </a:prstGeom>
          <a:noFill/>
        </p:spPr>
        <p:txBody>
          <a:bodyPr wrap="square">
            <a:spAutoFit/>
          </a:bodyPr>
          <a:lstStyle/>
          <a:p>
            <a:pPr marL="0" marR="0" indent="0" algn="l">
              <a:buNone/>
            </a:pPr>
            <a:r>
              <a:rPr lang="en-IN" b="1" i="0" dirty="0">
                <a:effectLst/>
              </a:rPr>
              <a:t>5. </a:t>
            </a:r>
            <a:r>
              <a:rPr lang="en-IN" b="1" i="0" dirty="0" err="1">
                <a:effectLst/>
              </a:rPr>
              <a:t>fastdtw</a:t>
            </a:r>
            <a:endParaRPr lang="en-IN" b="0" i="0" dirty="0">
              <a:effectLst/>
            </a:endParaRPr>
          </a:p>
          <a:p>
            <a:pPr marL="285750" indent="-285750" algn="l">
              <a:buFont typeface="Arial" panose="020B0604020202020204" pitchFamily="34" charset="0"/>
              <a:buChar char="•"/>
            </a:pPr>
            <a:r>
              <a:rPr lang="en-IN" b="0" i="0" dirty="0">
                <a:effectLst/>
              </a:rPr>
              <a:t>It compares the averaged keyword template with different sliding windows of the long target audio file. It calculates a similarity score between them. </a:t>
            </a:r>
            <a:r>
              <a:rPr lang="en-IN" b="0" i="0" dirty="0" err="1">
                <a:effectLst/>
              </a:rPr>
              <a:t>FastDTW</a:t>
            </a:r>
            <a:r>
              <a:rPr lang="en-IN" b="0" i="0" dirty="0">
                <a:effectLst/>
              </a:rPr>
              <a:t> optimizes this calculation, reducing time complexity from $O(N^2)$ to $O(N)$, ensuring fast processing of long audio files.</a:t>
            </a:r>
          </a:p>
          <a:p>
            <a:pPr marL="0" marR="0" indent="0" algn="l">
              <a:buNone/>
            </a:pPr>
            <a:r>
              <a:rPr lang="en-IN" b="1" i="0" dirty="0">
                <a:effectLst/>
              </a:rPr>
              <a:t>6. </a:t>
            </a:r>
            <a:r>
              <a:rPr lang="en-IN" b="1" i="0" dirty="0" err="1">
                <a:effectLst/>
              </a:rPr>
              <a:t>scipy</a:t>
            </a:r>
            <a:endParaRPr lang="en-IN" b="0" i="0" dirty="0">
              <a:effectLst/>
            </a:endParaRPr>
          </a:p>
          <a:p>
            <a:pPr marL="285750" indent="-285750" algn="l">
              <a:buFont typeface="Arial" panose="020B0604020202020204" pitchFamily="34" charset="0"/>
              <a:buChar char="•"/>
            </a:pPr>
            <a:r>
              <a:rPr lang="en-IN" b="0" i="0" dirty="0">
                <a:effectLst/>
              </a:rPr>
              <a:t>The code imports </a:t>
            </a:r>
            <a:r>
              <a:rPr lang="en-IN" b="0" i="0" dirty="0" err="1">
                <a:effectLst/>
              </a:rPr>
              <a:t>euclidean</a:t>
            </a:r>
            <a:r>
              <a:rPr lang="en-IN" b="0" i="0" dirty="0">
                <a:effectLst/>
              </a:rPr>
              <a:t> from </a:t>
            </a:r>
            <a:r>
              <a:rPr lang="en-IN" b="0" i="0" dirty="0" err="1">
                <a:effectLst/>
              </a:rPr>
              <a:t>scipy.spatial.distance</a:t>
            </a:r>
            <a:r>
              <a:rPr lang="en-IN" b="0" i="0" dirty="0">
                <a:effectLst/>
              </a:rPr>
              <a:t>. This function is used by the </a:t>
            </a:r>
            <a:r>
              <a:rPr lang="en-IN" b="0" i="0" dirty="0" err="1">
                <a:effectLst/>
              </a:rPr>
              <a:t>FastDTW</a:t>
            </a:r>
            <a:r>
              <a:rPr lang="en-IN" b="0" i="0" dirty="0">
                <a:effectLst/>
              </a:rPr>
              <a:t> algorithm to calculate the straight-line (Euclidean) distance between the acoustic feature vectors of the keyword template and the target audio.</a:t>
            </a:r>
          </a:p>
          <a:p>
            <a:pPr marL="0" marR="0" indent="0" algn="l">
              <a:buNone/>
            </a:pPr>
            <a:r>
              <a:rPr lang="en-IN" b="1" i="0" dirty="0">
                <a:effectLst/>
              </a:rPr>
              <a:t>7. </a:t>
            </a:r>
            <a:r>
              <a:rPr lang="en-IN" b="1" i="0" dirty="0" err="1">
                <a:effectLst/>
              </a:rPr>
              <a:t>pydub</a:t>
            </a:r>
            <a:endParaRPr lang="en-IN" b="0" i="0" dirty="0">
              <a:effectLst/>
            </a:endParaRPr>
          </a:p>
          <a:p>
            <a:pPr marL="285750" indent="-285750" algn="l">
              <a:buFont typeface="Arial" panose="020B0604020202020204" pitchFamily="34" charset="0"/>
              <a:buChar char="•"/>
            </a:pPr>
            <a:r>
              <a:rPr lang="en-IN" b="0" i="0" dirty="0">
                <a:effectLst/>
              </a:rPr>
              <a:t>It standardizes the uploaded audio clips (</a:t>
            </a:r>
            <a:r>
              <a:rPr lang="en-IN" b="0" i="0" dirty="0" err="1">
                <a:effectLst/>
              </a:rPr>
              <a:t>convert_to_wav</a:t>
            </a:r>
            <a:r>
              <a:rPr lang="en-IN" b="0" i="0" dirty="0">
                <a:effectLst/>
              </a:rPr>
              <a:t>). It reads incoming audio (which could be MP3, M4A, etc.) and exports it as a standard WAV file converted to </a:t>
            </a:r>
            <a:r>
              <a:rPr lang="en-IN" b="1" i="0" dirty="0">
                <a:effectLst/>
              </a:rPr>
              <a:t>mono (single channel)</a:t>
            </a:r>
            <a:r>
              <a:rPr lang="en-IN" b="0" i="0" dirty="0">
                <a:effectLst/>
              </a:rPr>
              <a:t> and a </a:t>
            </a:r>
            <a:r>
              <a:rPr lang="en-IN" b="1" i="0" dirty="0">
                <a:effectLst/>
              </a:rPr>
              <a:t>16,000 Hz sample rate</a:t>
            </a:r>
            <a:r>
              <a:rPr lang="en-IN" b="0" i="0" dirty="0">
                <a:effectLst/>
              </a:rPr>
              <a:t>, ensuring uniform data format for feature extraction.</a:t>
            </a:r>
          </a:p>
          <a:p>
            <a:pPr marL="0" marR="0" indent="0" algn="l">
              <a:buNone/>
            </a:pPr>
            <a:r>
              <a:rPr lang="en-IN" b="1" i="0" dirty="0">
                <a:effectLst/>
              </a:rPr>
              <a:t>8. </a:t>
            </a:r>
            <a:r>
              <a:rPr lang="en-IN" b="1" i="0" dirty="0" err="1">
                <a:effectLst/>
              </a:rPr>
              <a:t>SpeechRecognition</a:t>
            </a:r>
            <a:endParaRPr lang="en-IN" b="0" i="0" dirty="0">
              <a:effectLst/>
            </a:endParaRPr>
          </a:p>
          <a:p>
            <a:pPr marL="285750" indent="-285750" algn="l">
              <a:buFont typeface="Arial" panose="020B0604020202020204" pitchFamily="34" charset="0"/>
              <a:buChar char="•"/>
            </a:pPr>
            <a:r>
              <a:rPr lang="en-IN" b="0" i="0" dirty="0">
                <a:effectLst/>
              </a:rPr>
              <a:t>It transcribes each of the 5 uploaded keyword samples using the Google Web Speech API. The system then compares the transcriptions to verify they are the exact same word. This serves as a </a:t>
            </a:r>
            <a:r>
              <a:rPr lang="en-IN" b="1" i="0" dirty="0">
                <a:effectLst/>
              </a:rPr>
              <a:t>quality check</a:t>
            </a:r>
            <a:r>
              <a:rPr lang="en-IN" b="0" i="0" dirty="0">
                <a:effectLst/>
              </a:rPr>
              <a:t> to ensure the user has recorded the correct keyword consistently before matching begins.</a:t>
            </a:r>
          </a:p>
          <a:p>
            <a:pPr indent="0" algn="l">
              <a:buFont typeface="Arial" panose="020B0604020202020204" pitchFamily="34" charset="0"/>
              <a:buChar char="•"/>
            </a:pPr>
            <a:endParaRPr lang="en-IN" b="0" i="0" dirty="0">
              <a:effectLst/>
            </a:endParaRPr>
          </a:p>
          <a:p>
            <a:pPr>
              <a:buNone/>
            </a:pPr>
            <a:r>
              <a:rPr lang="en-IN" sz="2400" b="1" i="0" dirty="0">
                <a:effectLst/>
              </a:rPr>
              <a:t>MySQL</a:t>
            </a:r>
            <a:endParaRPr lang="en-IN" sz="2400" b="0" i="0" dirty="0">
              <a:effectLst/>
            </a:endParaRPr>
          </a:p>
          <a:p>
            <a:pPr marL="285750" indent="-285750" algn="l">
              <a:buFont typeface="Arial" panose="020B0604020202020204" pitchFamily="34" charset="0"/>
              <a:buChar char="•"/>
            </a:pPr>
            <a:r>
              <a:rPr lang="en-IN" b="0" i="0" dirty="0">
                <a:effectLst/>
              </a:rPr>
              <a:t>A widely used open-source relational database management system (RDBMS) that organizes data into tables linked by relationships (primary/foreign keys).</a:t>
            </a:r>
          </a:p>
          <a:p>
            <a:pPr marL="285750" indent="-285750" algn="l">
              <a:buFont typeface="Arial" panose="020B0604020202020204" pitchFamily="34" charset="0"/>
              <a:buChar char="•"/>
            </a:pPr>
            <a:r>
              <a:rPr lang="en-IN" b="0" i="0" dirty="0">
                <a:effectLst/>
              </a:rPr>
              <a:t>MySQL serves as the persistent storage layer for the Spring Boot backend, storing Users, Keyword Samples, Search Audio, Search Result, Search History</a:t>
            </a:r>
          </a:p>
        </p:txBody>
      </p:sp>
    </p:spTree>
    <p:extLst>
      <p:ext uri="{BB962C8B-B14F-4D97-AF65-F5344CB8AC3E}">
        <p14:creationId xmlns:p14="http://schemas.microsoft.com/office/powerpoint/2010/main" val="62041594"/>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75BC17A-5632-2FEF-6FEF-D6A982055E63}"/>
            </a:ext>
          </a:extLst>
        </p:cNvPr>
        <p:cNvGrpSpPr/>
        <p:nvPr/>
      </p:nvGrpSpPr>
      <p:grpSpPr>
        <a:xfrm>
          <a:off x="0" y="0"/>
          <a:ext cx="0" cy="0"/>
          <a:chOff x="0" y="0"/>
          <a:chExt cx="0" cy="0"/>
        </a:xfrm>
      </p:grpSpPr>
      <p:sp>
        <p:nvSpPr>
          <p:cNvPr id="3" name="Rectangle 2">
            <a:extLst>
              <a:ext uri="{FF2B5EF4-FFF2-40B4-BE49-F238E27FC236}">
                <a16:creationId xmlns:a16="http://schemas.microsoft.com/office/drawing/2014/main" id="{0C96E284-D550-E21D-49C6-E763D4E6F928}"/>
              </a:ext>
            </a:extLst>
          </p:cNvPr>
          <p:cNvSpPr/>
          <p:nvPr/>
        </p:nvSpPr>
        <p:spPr>
          <a:xfrm>
            <a:off x="0" y="175906"/>
            <a:ext cx="12192000" cy="609600"/>
          </a:xfrm>
          <a:prstGeom prst="rect">
            <a:avLst/>
          </a:prstGeom>
        </p:spPr>
        <p:style>
          <a:lnRef idx="3">
            <a:schemeClr val="lt1"/>
          </a:lnRef>
          <a:fillRef idx="1">
            <a:schemeClr val="accent6"/>
          </a:fillRef>
          <a:effectRef idx="1">
            <a:schemeClr val="accent6"/>
          </a:effectRef>
          <a:fontRef idx="minor">
            <a:schemeClr val="lt1"/>
          </a:fontRef>
        </p:style>
        <p:txBody>
          <a:bodyPr rtlCol="0" anchor="ctr"/>
          <a:lstStyle/>
          <a:p>
            <a:pPr algn="ctr"/>
            <a:r>
              <a:rPr lang="en-US" sz="3200" b="1" dirty="0"/>
              <a:t>System Integration Flow</a:t>
            </a:r>
            <a:endParaRPr lang="en-IN" sz="3200" b="1" dirty="0"/>
          </a:p>
        </p:txBody>
      </p:sp>
      <p:sp>
        <p:nvSpPr>
          <p:cNvPr id="4" name="TextBox 3">
            <a:extLst>
              <a:ext uri="{FF2B5EF4-FFF2-40B4-BE49-F238E27FC236}">
                <a16:creationId xmlns:a16="http://schemas.microsoft.com/office/drawing/2014/main" id="{D5C28A06-3280-26FF-BF3C-F529295F1FA6}"/>
              </a:ext>
            </a:extLst>
          </p:cNvPr>
          <p:cNvSpPr txBox="1"/>
          <p:nvPr/>
        </p:nvSpPr>
        <p:spPr>
          <a:xfrm>
            <a:off x="0" y="892302"/>
            <a:ext cx="12192000" cy="5632311"/>
          </a:xfrm>
          <a:prstGeom prst="rect">
            <a:avLst/>
          </a:prstGeom>
          <a:noFill/>
        </p:spPr>
        <p:txBody>
          <a:bodyPr wrap="square">
            <a:spAutoFit/>
          </a:bodyPr>
          <a:lstStyle/>
          <a:p>
            <a:pPr indent="0" algn="l">
              <a:buFont typeface="Arial" panose="020B0604020202020204" pitchFamily="34" charset="0"/>
              <a:buChar char="•"/>
            </a:pPr>
            <a:r>
              <a:rPr lang="en-IN" sz="2400" b="1" i="0" dirty="0">
                <a:effectLst/>
              </a:rPr>
              <a:t> Step 1: User Request (React)</a:t>
            </a:r>
            <a:br>
              <a:rPr lang="en-IN" sz="2400" b="0" i="0" dirty="0">
                <a:effectLst/>
              </a:rPr>
            </a:br>
            <a:r>
              <a:rPr lang="en-IN" sz="2400" b="0" i="0" dirty="0">
                <a:effectLst/>
              </a:rPr>
              <a:t>The user uploads a keyword (5 samples) and a target audio file in the browser using the React frontend.</a:t>
            </a:r>
          </a:p>
          <a:p>
            <a:pPr indent="0" algn="l">
              <a:buFont typeface="Arial" panose="020B0604020202020204" pitchFamily="34" charset="0"/>
              <a:buChar char="•"/>
            </a:pPr>
            <a:r>
              <a:rPr lang="en-IN" sz="2400" b="1" i="0" dirty="0">
                <a:effectLst/>
              </a:rPr>
              <a:t> Step 2: API Gateway &amp; Security (Spring Boot)</a:t>
            </a:r>
            <a:br>
              <a:rPr lang="en-IN" sz="2400" b="0" i="0" dirty="0">
                <a:effectLst/>
              </a:rPr>
            </a:br>
            <a:r>
              <a:rPr lang="en-IN" sz="2400" b="0" i="0" dirty="0">
                <a:effectLst/>
              </a:rPr>
              <a:t>Spring Boot captures the request, authenticates the session, and forwards the audio files to the Flask ML service.</a:t>
            </a:r>
          </a:p>
          <a:p>
            <a:pPr indent="0" algn="l">
              <a:buFont typeface="Arial" panose="020B0604020202020204" pitchFamily="34" charset="0"/>
              <a:buChar char="•"/>
            </a:pPr>
            <a:r>
              <a:rPr lang="en-IN" sz="2400" b="1" i="0" dirty="0">
                <a:effectLst/>
              </a:rPr>
              <a:t> Step 3: Machine Learning Execution (Python / Flask)</a:t>
            </a:r>
            <a:br>
              <a:rPr lang="en-IN" sz="2400" b="0" i="0" dirty="0">
                <a:effectLst/>
              </a:rPr>
            </a:br>
            <a:r>
              <a:rPr lang="en-IN" sz="2400" b="0" i="0" dirty="0">
                <a:effectLst/>
              </a:rPr>
              <a:t>The ML service extracts MFCC features, aligns sequences via Dynamic Time Warping (</a:t>
            </a:r>
            <a:r>
              <a:rPr lang="en-IN" sz="2400" b="0" i="0" dirty="0" err="1">
                <a:effectLst/>
              </a:rPr>
              <a:t>FastDTW</a:t>
            </a:r>
            <a:r>
              <a:rPr lang="en-IN" sz="2400" b="0" i="0" dirty="0">
                <a:effectLst/>
              </a:rPr>
              <a:t>), and returns the matched timestamps.</a:t>
            </a:r>
          </a:p>
          <a:p>
            <a:pPr indent="0" algn="l">
              <a:buFont typeface="Arial" panose="020B0604020202020204" pitchFamily="34" charset="0"/>
              <a:buChar char="•"/>
            </a:pPr>
            <a:r>
              <a:rPr lang="en-IN" sz="2400" b="1" i="0" dirty="0">
                <a:effectLst/>
              </a:rPr>
              <a:t> Step 4: Data Persistence (MySQL)</a:t>
            </a:r>
            <a:br>
              <a:rPr lang="en-IN" sz="2400" b="0" i="0" dirty="0">
                <a:effectLst/>
              </a:rPr>
            </a:br>
            <a:r>
              <a:rPr lang="en-IN" sz="2400" b="0" i="0" dirty="0">
                <a:effectLst/>
              </a:rPr>
              <a:t>Spring Boot saves the metadata, file paths, and resulting timestamps into the relational database.</a:t>
            </a:r>
          </a:p>
          <a:p>
            <a:pPr indent="0" algn="l">
              <a:buFont typeface="Arial" panose="020B0604020202020204" pitchFamily="34" charset="0"/>
              <a:buChar char="•"/>
            </a:pPr>
            <a:r>
              <a:rPr lang="en-IN" sz="2400" b="1" i="0" dirty="0">
                <a:effectLst/>
              </a:rPr>
              <a:t> Step 5: Dynamic UI Rendering (React)</a:t>
            </a:r>
            <a:br>
              <a:rPr lang="en-IN" sz="2400" b="0" i="0" dirty="0">
                <a:effectLst/>
              </a:rPr>
            </a:br>
            <a:r>
              <a:rPr lang="en-IN" sz="2400" b="0" i="0" dirty="0">
                <a:effectLst/>
              </a:rPr>
              <a:t>Spring Boot returns the timestamps to React, which instantly displays the match times and scores to the user without reloading the page.</a:t>
            </a:r>
          </a:p>
        </p:txBody>
      </p:sp>
    </p:spTree>
    <p:extLst>
      <p:ext uri="{BB962C8B-B14F-4D97-AF65-F5344CB8AC3E}">
        <p14:creationId xmlns:p14="http://schemas.microsoft.com/office/powerpoint/2010/main" val="375094722"/>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A2169AF-BA54-303B-2549-26D56A8CFF24}"/>
            </a:ext>
          </a:extLst>
        </p:cNvPr>
        <p:cNvGrpSpPr/>
        <p:nvPr/>
      </p:nvGrpSpPr>
      <p:grpSpPr>
        <a:xfrm>
          <a:off x="0" y="0"/>
          <a:ext cx="0" cy="0"/>
          <a:chOff x="0" y="0"/>
          <a:chExt cx="0" cy="0"/>
        </a:xfrm>
      </p:grpSpPr>
      <p:sp>
        <p:nvSpPr>
          <p:cNvPr id="3" name="Rectangle 2">
            <a:extLst>
              <a:ext uri="{FF2B5EF4-FFF2-40B4-BE49-F238E27FC236}">
                <a16:creationId xmlns:a16="http://schemas.microsoft.com/office/drawing/2014/main" id="{BC24CFF4-EC9F-303F-A2F0-4854AC3F0F27}"/>
              </a:ext>
            </a:extLst>
          </p:cNvPr>
          <p:cNvSpPr/>
          <p:nvPr/>
        </p:nvSpPr>
        <p:spPr>
          <a:xfrm>
            <a:off x="0" y="372551"/>
            <a:ext cx="12192000" cy="609600"/>
          </a:xfrm>
          <a:prstGeom prst="rect">
            <a:avLst/>
          </a:prstGeom>
        </p:spPr>
        <p:style>
          <a:lnRef idx="3">
            <a:schemeClr val="lt1"/>
          </a:lnRef>
          <a:fillRef idx="1">
            <a:schemeClr val="accent6"/>
          </a:fillRef>
          <a:effectRef idx="1">
            <a:schemeClr val="accent6"/>
          </a:effectRef>
          <a:fontRef idx="minor">
            <a:schemeClr val="lt1"/>
          </a:fontRef>
        </p:style>
        <p:txBody>
          <a:bodyPr rtlCol="0" anchor="ctr"/>
          <a:lstStyle/>
          <a:p>
            <a:pPr algn="ctr"/>
            <a:r>
              <a:rPr lang="en-US" sz="3200" b="1" dirty="0"/>
              <a:t>Functional Block Diagram and System Flow</a:t>
            </a:r>
            <a:endParaRPr lang="en-IN" sz="3200" b="1" dirty="0"/>
          </a:p>
        </p:txBody>
      </p:sp>
      <p:graphicFrame>
        <p:nvGraphicFramePr>
          <p:cNvPr id="15" name="Table 14">
            <a:extLst>
              <a:ext uri="{FF2B5EF4-FFF2-40B4-BE49-F238E27FC236}">
                <a16:creationId xmlns:a16="http://schemas.microsoft.com/office/drawing/2014/main" id="{D14659E1-364F-03D6-8655-B82631678AA0}"/>
              </a:ext>
            </a:extLst>
          </p:cNvPr>
          <p:cNvGraphicFramePr>
            <a:graphicFrameLocks noGrp="1"/>
          </p:cNvGraphicFramePr>
          <p:nvPr>
            <p:extLst>
              <p:ext uri="{D42A27DB-BD31-4B8C-83A1-F6EECF244321}">
                <p14:modId xmlns:p14="http://schemas.microsoft.com/office/powerpoint/2010/main" val="1350873164"/>
              </p:ext>
            </p:extLst>
          </p:nvPr>
        </p:nvGraphicFramePr>
        <p:xfrm>
          <a:off x="0" y="1264562"/>
          <a:ext cx="12192000" cy="5593438"/>
        </p:xfrm>
        <a:graphic>
          <a:graphicData uri="http://schemas.openxmlformats.org/drawingml/2006/table">
            <a:tbl>
              <a:tblPr firstRow="1" bandRow="1">
                <a:tableStyleId>{5940675A-B579-460E-94D1-54222C63F5DA}</a:tableStyleId>
              </a:tblPr>
              <a:tblGrid>
                <a:gridCol w="6096000">
                  <a:extLst>
                    <a:ext uri="{9D8B030D-6E8A-4147-A177-3AD203B41FA5}">
                      <a16:colId xmlns:a16="http://schemas.microsoft.com/office/drawing/2014/main" val="2847990082"/>
                    </a:ext>
                  </a:extLst>
                </a:gridCol>
                <a:gridCol w="6096000">
                  <a:extLst>
                    <a:ext uri="{9D8B030D-6E8A-4147-A177-3AD203B41FA5}">
                      <a16:colId xmlns:a16="http://schemas.microsoft.com/office/drawing/2014/main" val="3043510229"/>
                    </a:ext>
                  </a:extLst>
                </a:gridCol>
              </a:tblGrid>
              <a:tr h="5593438">
                <a:tc>
                  <a:txBody>
                    <a:bodyPr/>
                    <a:lstStyle/>
                    <a:p>
                      <a:endParaRPr lang="en-IN" dirty="0"/>
                    </a:p>
                  </a:txBody>
                  <a:tcPr>
                    <a:lnL w="12700" cmpd="sng">
                      <a:noFill/>
                    </a:lnL>
                    <a:lnR w="12700" cmpd="sng">
                      <a:noFill/>
                    </a:lnR>
                    <a:lnT w="12700" cmpd="sng">
                      <a:noFill/>
                    </a:lnT>
                    <a:lnB w="12700" cmpd="sng">
                      <a:noFill/>
                    </a:lnB>
                    <a:lnTlToBr w="12700" cmpd="sng">
                      <a:noFill/>
                      <a:prstDash val="solid"/>
                    </a:lnTlToBr>
                    <a:lnBlToTr w="12700" cmpd="sng">
                      <a:noFill/>
                      <a:prstDash val="solid"/>
                    </a:lnBlToTr>
                  </a:tcPr>
                </a:tc>
                <a:tc>
                  <a:txBody>
                    <a:bodyPr/>
                    <a:lstStyle/>
                    <a:p>
                      <a:endParaRPr lang="en-IN" dirty="0"/>
                    </a:p>
                  </a:txBody>
                  <a:tcPr>
                    <a:lnL w="12700" cmpd="sng">
                      <a:noFill/>
                    </a:lnL>
                    <a:lnR w="12700" cmpd="sng">
                      <a:noFill/>
                    </a:lnR>
                    <a:lnT w="12700" cmpd="sng">
                      <a:noFill/>
                    </a:lnT>
                    <a:lnB w="12700" cmpd="sng">
                      <a:noFill/>
                    </a:lnB>
                    <a:lnTlToBr w="12700" cmpd="sng">
                      <a:noFill/>
                      <a:prstDash val="solid"/>
                    </a:lnTlToBr>
                    <a:lnBlToTr w="12700" cmpd="sng">
                      <a:noFill/>
                      <a:prstDash val="solid"/>
                    </a:lnBlToTr>
                  </a:tcPr>
                </a:tc>
                <a:extLst>
                  <a:ext uri="{0D108BD9-81ED-4DB2-BD59-A6C34878D82A}">
                    <a16:rowId xmlns:a16="http://schemas.microsoft.com/office/drawing/2014/main" val="3085911238"/>
                  </a:ext>
                </a:extLst>
              </a:tr>
            </a:tbl>
          </a:graphicData>
        </a:graphic>
      </p:graphicFrame>
      <p:pic>
        <p:nvPicPr>
          <p:cNvPr id="23" name="Picture 22">
            <a:extLst>
              <a:ext uri="{FF2B5EF4-FFF2-40B4-BE49-F238E27FC236}">
                <a16:creationId xmlns:a16="http://schemas.microsoft.com/office/drawing/2014/main" id="{7C7B5264-C267-FF8E-3126-92F29492DC65}"/>
              </a:ext>
            </a:extLst>
          </p:cNvPr>
          <p:cNvPicPr>
            <a:picLocks noChangeAspect="1"/>
          </p:cNvPicPr>
          <p:nvPr/>
        </p:nvPicPr>
        <p:blipFill>
          <a:blip r:embed="rId2"/>
          <a:stretch>
            <a:fillRect/>
          </a:stretch>
        </p:blipFill>
        <p:spPr>
          <a:xfrm>
            <a:off x="6173039" y="1166240"/>
            <a:ext cx="6018961" cy="5579793"/>
          </a:xfrm>
          <a:prstGeom prst="rect">
            <a:avLst/>
          </a:prstGeom>
        </p:spPr>
      </p:pic>
      <p:pic>
        <p:nvPicPr>
          <p:cNvPr id="25" name="Picture 24">
            <a:extLst>
              <a:ext uri="{FF2B5EF4-FFF2-40B4-BE49-F238E27FC236}">
                <a16:creationId xmlns:a16="http://schemas.microsoft.com/office/drawing/2014/main" id="{3945BEC5-500C-6E7D-14D4-9E2A3613F8C6}"/>
              </a:ext>
            </a:extLst>
          </p:cNvPr>
          <p:cNvPicPr>
            <a:picLocks noChangeAspect="1"/>
          </p:cNvPicPr>
          <p:nvPr/>
        </p:nvPicPr>
        <p:blipFill>
          <a:blip r:embed="rId3"/>
          <a:stretch>
            <a:fillRect/>
          </a:stretch>
        </p:blipFill>
        <p:spPr>
          <a:xfrm>
            <a:off x="0" y="1166239"/>
            <a:ext cx="6018963" cy="5579793"/>
          </a:xfrm>
          <a:prstGeom prst="rect">
            <a:avLst/>
          </a:prstGeom>
        </p:spPr>
      </p:pic>
    </p:spTree>
    <p:extLst>
      <p:ext uri="{BB962C8B-B14F-4D97-AF65-F5344CB8AC3E}">
        <p14:creationId xmlns:p14="http://schemas.microsoft.com/office/powerpoint/2010/main" val="431857100"/>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4D10B0E6-1B8A-86BD-BCDD-1E357769DF9E}"/>
              </a:ext>
            </a:extLst>
          </p:cNvPr>
          <p:cNvSpPr/>
          <p:nvPr/>
        </p:nvSpPr>
        <p:spPr>
          <a:xfrm>
            <a:off x="0" y="166074"/>
            <a:ext cx="12192000" cy="609600"/>
          </a:xfrm>
          <a:prstGeom prst="rect">
            <a:avLst/>
          </a:prstGeom>
        </p:spPr>
        <p:style>
          <a:lnRef idx="3">
            <a:schemeClr val="lt1"/>
          </a:lnRef>
          <a:fillRef idx="1">
            <a:schemeClr val="accent6"/>
          </a:fillRef>
          <a:effectRef idx="1">
            <a:schemeClr val="accent6"/>
          </a:effectRef>
          <a:fontRef idx="minor">
            <a:schemeClr val="lt1"/>
          </a:fontRef>
        </p:style>
        <p:txBody>
          <a:bodyPr rtlCol="0" anchor="ctr"/>
          <a:lstStyle/>
          <a:p>
            <a:pPr algn="ctr"/>
            <a:r>
              <a:rPr lang="en-US" sz="3200" b="1" dirty="0"/>
              <a:t>Functional Block Diagram</a:t>
            </a:r>
            <a:endParaRPr lang="en-IN" sz="3200" dirty="0"/>
          </a:p>
        </p:txBody>
      </p:sp>
      <p:sp>
        <p:nvSpPr>
          <p:cNvPr id="7" name="TextBox 6">
            <a:extLst>
              <a:ext uri="{FF2B5EF4-FFF2-40B4-BE49-F238E27FC236}">
                <a16:creationId xmlns:a16="http://schemas.microsoft.com/office/drawing/2014/main" id="{0CC5F372-6A70-B112-BC77-57075FDA83C2}"/>
              </a:ext>
            </a:extLst>
          </p:cNvPr>
          <p:cNvSpPr txBox="1"/>
          <p:nvPr/>
        </p:nvSpPr>
        <p:spPr>
          <a:xfrm>
            <a:off x="78657" y="775674"/>
            <a:ext cx="12191999" cy="5847755"/>
          </a:xfrm>
          <a:prstGeom prst="rect">
            <a:avLst/>
          </a:prstGeom>
          <a:noFill/>
        </p:spPr>
        <p:txBody>
          <a:bodyPr wrap="square">
            <a:spAutoFit/>
          </a:bodyPr>
          <a:lstStyle/>
          <a:p>
            <a:pPr marL="0" marR="0" indent="0" algn="l">
              <a:buNone/>
            </a:pPr>
            <a:r>
              <a:rPr lang="en-IN" sz="2200" b="1" i="0" dirty="0">
                <a:effectLst/>
              </a:rPr>
              <a:t>Overview</a:t>
            </a:r>
            <a:endParaRPr lang="en-IN" sz="2200" b="0" i="0" dirty="0">
              <a:effectLst/>
            </a:endParaRPr>
          </a:p>
          <a:p>
            <a:pPr marL="0" marR="0" indent="0" algn="l">
              <a:buNone/>
            </a:pPr>
            <a:r>
              <a:rPr lang="en-IN" sz="2200" b="0" i="0" dirty="0">
                <a:effectLst/>
              </a:rPr>
              <a:t>This diagram illustrates the </a:t>
            </a:r>
            <a:r>
              <a:rPr lang="en-IN" sz="2200" b="1" i="0" dirty="0">
                <a:effectLst/>
              </a:rPr>
              <a:t>three-tier decoupled architecture</a:t>
            </a:r>
            <a:r>
              <a:rPr lang="en-IN" sz="2200" b="0" i="0" dirty="0">
                <a:effectLst/>
              </a:rPr>
              <a:t> of the project, dividing tasks between user interaction, business orchestrations, and heavy mathematical computation.</a:t>
            </a:r>
          </a:p>
          <a:p>
            <a:pPr marL="0" marR="0" indent="0" algn="l">
              <a:buNone/>
            </a:pPr>
            <a:r>
              <a:rPr lang="en-IN" sz="2200" b="1" i="0" dirty="0">
                <a:effectLst/>
              </a:rPr>
              <a:t>Key Architectural Components:</a:t>
            </a:r>
            <a:endParaRPr lang="en-IN" sz="2200" b="0" i="0" dirty="0">
              <a:effectLst/>
            </a:endParaRPr>
          </a:p>
          <a:p>
            <a:pPr indent="0" algn="l">
              <a:buFont typeface="Arial" panose="020B0604020202020204" pitchFamily="34" charset="0"/>
              <a:buChar char="•"/>
            </a:pPr>
            <a:r>
              <a:rPr lang="en-IN" sz="2200" b="1" i="0" dirty="0">
                <a:effectLst/>
              </a:rPr>
              <a:t>Presentation Layer (React JS):</a:t>
            </a:r>
            <a:endParaRPr lang="en-IN" sz="2200" b="0" i="0" dirty="0">
              <a:effectLst/>
            </a:endParaRPr>
          </a:p>
          <a:p>
            <a:pPr marL="742950" lvl="1" indent="-285750" algn="l">
              <a:buFont typeface="Arial" panose="020B0604020202020204" pitchFamily="34" charset="0"/>
              <a:buChar char="•"/>
            </a:pPr>
            <a:r>
              <a:rPr lang="en-IN" sz="2200" b="0" i="0" dirty="0">
                <a:effectLst/>
              </a:rPr>
              <a:t>Runs entirely in the client's browser.</a:t>
            </a:r>
          </a:p>
          <a:p>
            <a:pPr marL="742950" lvl="1" indent="-285750" algn="l">
              <a:buFont typeface="Arial" panose="020B0604020202020204" pitchFamily="34" charset="0"/>
              <a:buChar char="•"/>
            </a:pPr>
            <a:r>
              <a:rPr lang="en-IN" sz="2200" b="0" i="0" dirty="0">
                <a:effectLst/>
              </a:rPr>
              <a:t>Decoupled from the backend, communicating purely via asynchronous HTTP REST requests.</a:t>
            </a:r>
          </a:p>
          <a:p>
            <a:pPr indent="0" algn="l">
              <a:buFont typeface="Arial" panose="020B0604020202020204" pitchFamily="34" charset="0"/>
              <a:buChar char="•"/>
            </a:pPr>
            <a:r>
              <a:rPr lang="en-IN" sz="2200" b="1" i="0" dirty="0">
                <a:effectLst/>
              </a:rPr>
              <a:t>Business Logic Layer (Spring Boot API):</a:t>
            </a:r>
            <a:endParaRPr lang="en-IN" sz="2200" b="0" i="0" dirty="0">
              <a:effectLst/>
            </a:endParaRPr>
          </a:p>
          <a:p>
            <a:pPr marL="742950" lvl="1" indent="-285750" algn="l">
              <a:buFont typeface="Arial" panose="020B0604020202020204" pitchFamily="34" charset="0"/>
              <a:buChar char="•"/>
            </a:pPr>
            <a:r>
              <a:rPr lang="en-IN" sz="2200" b="0" i="0" dirty="0">
                <a:effectLst/>
              </a:rPr>
              <a:t>Serves as the central controller.</a:t>
            </a:r>
          </a:p>
          <a:p>
            <a:pPr marL="742950" lvl="1" indent="-285750" algn="l">
              <a:buFont typeface="Arial" panose="020B0604020202020204" pitchFamily="34" charset="0"/>
              <a:buChar char="•"/>
            </a:pPr>
            <a:r>
              <a:rPr lang="en-IN" sz="2200" b="0" i="0" dirty="0">
                <a:effectLst/>
              </a:rPr>
              <a:t>Handles user authentication, security, and coordinates requests between the user interface and the ML engine.</a:t>
            </a:r>
          </a:p>
          <a:p>
            <a:pPr indent="0" algn="l">
              <a:buFont typeface="Arial" panose="020B0604020202020204" pitchFamily="34" charset="0"/>
              <a:buChar char="•"/>
            </a:pPr>
            <a:r>
              <a:rPr lang="en-IN" sz="2200" b="1" i="0" dirty="0">
                <a:effectLst/>
              </a:rPr>
              <a:t>Processing Engine (Python Flask ML Service):</a:t>
            </a:r>
            <a:endParaRPr lang="en-IN" sz="2200" b="0" i="0" dirty="0">
              <a:effectLst/>
            </a:endParaRPr>
          </a:p>
          <a:p>
            <a:pPr marL="742950" lvl="1" indent="-285750" algn="l">
              <a:buFont typeface="Arial" panose="020B0604020202020204" pitchFamily="34" charset="0"/>
              <a:buChar char="•"/>
            </a:pPr>
            <a:r>
              <a:rPr lang="en-IN" sz="2200" b="0" i="0" dirty="0">
                <a:effectLst/>
              </a:rPr>
              <a:t>A specialized microservice dedicated purely to audio manipulation and sequence matching algorithms.</a:t>
            </a:r>
          </a:p>
          <a:p>
            <a:pPr indent="0" algn="l">
              <a:buFont typeface="Arial" panose="020B0604020202020204" pitchFamily="34" charset="0"/>
              <a:buChar char="•"/>
            </a:pPr>
            <a:r>
              <a:rPr lang="en-IN" sz="2200" b="1" i="0" dirty="0">
                <a:effectLst/>
              </a:rPr>
              <a:t>Storage Layer (MySQL):</a:t>
            </a:r>
            <a:endParaRPr lang="en-IN" sz="2200" b="0" i="0" dirty="0">
              <a:effectLst/>
            </a:endParaRPr>
          </a:p>
          <a:p>
            <a:pPr marL="742950" lvl="1" indent="-285750" algn="l">
              <a:buFont typeface="Arial" panose="020B0604020202020204" pitchFamily="34" charset="0"/>
              <a:buChar char="•"/>
            </a:pPr>
            <a:r>
              <a:rPr lang="en-IN" sz="2200" b="0" i="0" dirty="0">
                <a:effectLst/>
              </a:rPr>
              <a:t>A relational database that stores persistent metadata, user records, and query history, keeping them separate from the raw audio streams.</a:t>
            </a:r>
          </a:p>
        </p:txBody>
      </p:sp>
    </p:spTree>
    <p:extLst>
      <p:ext uri="{BB962C8B-B14F-4D97-AF65-F5344CB8AC3E}">
        <p14:creationId xmlns:p14="http://schemas.microsoft.com/office/powerpoint/2010/main" val="1301564220"/>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E4F026A-D17B-2190-B0EA-CE66153104DA}"/>
            </a:ext>
          </a:extLst>
        </p:cNvPr>
        <p:cNvGrpSpPr/>
        <p:nvPr/>
      </p:nvGrpSpPr>
      <p:grpSpPr>
        <a:xfrm>
          <a:off x="0" y="0"/>
          <a:ext cx="0" cy="0"/>
          <a:chOff x="0" y="0"/>
          <a:chExt cx="0" cy="0"/>
        </a:xfrm>
      </p:grpSpPr>
      <p:sp>
        <p:nvSpPr>
          <p:cNvPr id="3" name="Rectangle 2">
            <a:extLst>
              <a:ext uri="{FF2B5EF4-FFF2-40B4-BE49-F238E27FC236}">
                <a16:creationId xmlns:a16="http://schemas.microsoft.com/office/drawing/2014/main" id="{CDED36B7-F561-BCE2-CAF9-55415370FFE3}"/>
              </a:ext>
            </a:extLst>
          </p:cNvPr>
          <p:cNvSpPr/>
          <p:nvPr/>
        </p:nvSpPr>
        <p:spPr>
          <a:xfrm>
            <a:off x="0" y="166074"/>
            <a:ext cx="12192000" cy="609600"/>
          </a:xfrm>
          <a:prstGeom prst="rect">
            <a:avLst/>
          </a:prstGeom>
        </p:spPr>
        <p:style>
          <a:lnRef idx="3">
            <a:schemeClr val="lt1"/>
          </a:lnRef>
          <a:fillRef idx="1">
            <a:schemeClr val="accent6"/>
          </a:fillRef>
          <a:effectRef idx="1">
            <a:schemeClr val="accent6"/>
          </a:effectRef>
          <a:fontRef idx="minor">
            <a:schemeClr val="lt1"/>
          </a:fontRef>
        </p:style>
        <p:txBody>
          <a:bodyPr rtlCol="0" anchor="ctr"/>
          <a:lstStyle/>
          <a:p>
            <a:pPr algn="ctr"/>
            <a:r>
              <a:rPr lang="en-US" sz="3200" b="1" dirty="0"/>
              <a:t>System Flow</a:t>
            </a:r>
            <a:endParaRPr lang="en-IN" sz="3200" dirty="0"/>
          </a:p>
        </p:txBody>
      </p:sp>
      <p:sp>
        <p:nvSpPr>
          <p:cNvPr id="4" name="TextBox 3">
            <a:extLst>
              <a:ext uri="{FF2B5EF4-FFF2-40B4-BE49-F238E27FC236}">
                <a16:creationId xmlns:a16="http://schemas.microsoft.com/office/drawing/2014/main" id="{DC19A084-D3C1-F4CE-FB6B-218778323264}"/>
              </a:ext>
            </a:extLst>
          </p:cNvPr>
          <p:cNvSpPr txBox="1"/>
          <p:nvPr/>
        </p:nvSpPr>
        <p:spPr>
          <a:xfrm>
            <a:off x="0" y="775674"/>
            <a:ext cx="12192000" cy="6186309"/>
          </a:xfrm>
          <a:prstGeom prst="rect">
            <a:avLst/>
          </a:prstGeom>
          <a:noFill/>
        </p:spPr>
        <p:txBody>
          <a:bodyPr wrap="square">
            <a:spAutoFit/>
          </a:bodyPr>
          <a:lstStyle/>
          <a:p>
            <a:pPr marL="0" marR="0" indent="0" algn="l">
              <a:buNone/>
            </a:pPr>
            <a:r>
              <a:rPr lang="en-IN" sz="2200" b="1" i="0" dirty="0">
                <a:effectLst/>
              </a:rPr>
              <a:t>Overview</a:t>
            </a:r>
            <a:endParaRPr lang="en-IN" sz="2200" b="0" i="0" dirty="0">
              <a:effectLst/>
            </a:endParaRPr>
          </a:p>
          <a:p>
            <a:pPr marL="0" marR="0" indent="0" algn="l">
              <a:buNone/>
            </a:pPr>
            <a:r>
              <a:rPr lang="en-IN" sz="2200" b="0" i="0" dirty="0">
                <a:effectLst/>
              </a:rPr>
              <a:t>This diagram traces the </a:t>
            </a:r>
            <a:r>
              <a:rPr lang="en-IN" sz="2200" b="1" i="0" dirty="0">
                <a:effectLst/>
              </a:rPr>
              <a:t>lifecycle of a keyword search query</a:t>
            </a:r>
            <a:r>
              <a:rPr lang="en-IN" sz="2200" b="0" i="0" dirty="0">
                <a:effectLst/>
              </a:rPr>
              <a:t>—from the moment a user uploads their voice samples to the display of the final timestamps.</a:t>
            </a:r>
          </a:p>
          <a:p>
            <a:pPr indent="0" algn="l">
              <a:buFont typeface="+mj-lt"/>
              <a:buAutoNum type="arabicPeriod"/>
            </a:pPr>
            <a:r>
              <a:rPr lang="en-IN" sz="2200" b="1" i="0" dirty="0">
                <a:effectLst/>
              </a:rPr>
              <a:t>Ingestion &amp; </a:t>
            </a:r>
            <a:r>
              <a:rPr lang="en-IN" sz="2200" b="1" i="0" dirty="0" err="1">
                <a:effectLst/>
              </a:rPr>
              <a:t>Enrollment</a:t>
            </a:r>
            <a:r>
              <a:rPr lang="en-IN" sz="2200" b="1" i="0" dirty="0">
                <a:effectLst/>
              </a:rPr>
              <a:t>:</a:t>
            </a:r>
            <a:r>
              <a:rPr lang="en-IN" sz="2200" b="0" i="0" dirty="0">
                <a:effectLst/>
              </a:rPr>
              <a:t> The client records/uploads exactly 5 keyword samples and a search audio file. These are transmitted to the Spring Boot REST endpoints.</a:t>
            </a:r>
          </a:p>
          <a:p>
            <a:pPr indent="0" algn="l">
              <a:buFont typeface="+mj-lt"/>
              <a:buAutoNum type="arabicPeriod"/>
            </a:pPr>
            <a:r>
              <a:rPr lang="en-IN" sz="2200" b="1" i="0" dirty="0">
                <a:effectLst/>
              </a:rPr>
              <a:t>ML Preprocessing &amp; Validation:</a:t>
            </a:r>
            <a:endParaRPr lang="en-IN" sz="2200" b="0" i="0" dirty="0">
              <a:effectLst/>
            </a:endParaRPr>
          </a:p>
          <a:p>
            <a:pPr marL="742950" lvl="1" indent="-285750" algn="l">
              <a:buFont typeface="+mj-lt"/>
              <a:buAutoNum type="arabicPeriod"/>
            </a:pPr>
            <a:r>
              <a:rPr lang="en-IN" sz="2200" b="0" i="0" dirty="0">
                <a:effectLst/>
              </a:rPr>
              <a:t>Audio files are resampled to a standardized </a:t>
            </a:r>
            <a:r>
              <a:rPr lang="en-IN" sz="2200" b="1" i="0" dirty="0">
                <a:effectLst/>
              </a:rPr>
              <a:t>16kHz Mono WAV</a:t>
            </a:r>
            <a:r>
              <a:rPr lang="en-IN" sz="2200" b="0" i="0" dirty="0">
                <a:effectLst/>
              </a:rPr>
              <a:t> format via </a:t>
            </a:r>
            <a:r>
              <a:rPr lang="en-IN" sz="2200" b="0" i="0" dirty="0" err="1">
                <a:effectLst/>
              </a:rPr>
              <a:t>pydub</a:t>
            </a:r>
            <a:r>
              <a:rPr lang="en-IN" sz="2200" b="0" i="0" dirty="0">
                <a:effectLst/>
              </a:rPr>
              <a:t>.</a:t>
            </a:r>
          </a:p>
          <a:p>
            <a:pPr marL="742950" lvl="1" indent="-285750" algn="l">
              <a:buFont typeface="+mj-lt"/>
              <a:buAutoNum type="arabicPeriod"/>
            </a:pPr>
            <a:r>
              <a:rPr lang="en-IN" sz="2200" b="0" i="0" dirty="0">
                <a:effectLst/>
              </a:rPr>
              <a:t>The Google Speech API performs a transcription </a:t>
            </a:r>
            <a:r>
              <a:rPr lang="en-IN" sz="2200" b="1" i="0" dirty="0">
                <a:effectLst/>
              </a:rPr>
              <a:t>consistency check</a:t>
            </a:r>
            <a:r>
              <a:rPr lang="en-IN" sz="2200" b="0" i="0" dirty="0">
                <a:effectLst/>
              </a:rPr>
              <a:t> on the 5 samples to ensure they contain the exact same word before processing continues.</a:t>
            </a:r>
          </a:p>
          <a:p>
            <a:pPr indent="0" algn="l">
              <a:buFont typeface="+mj-lt"/>
              <a:buAutoNum type="arabicPeriod"/>
            </a:pPr>
            <a:r>
              <a:rPr lang="en-IN" sz="2200" b="1" i="0" dirty="0">
                <a:effectLst/>
              </a:rPr>
              <a:t>Feature Extraction &amp; Acoustic Matching:</a:t>
            </a:r>
            <a:endParaRPr lang="en-IN" sz="2200" b="0" i="0" dirty="0">
              <a:effectLst/>
            </a:endParaRPr>
          </a:p>
          <a:p>
            <a:pPr marL="742950" lvl="1" indent="-285750" algn="l">
              <a:buFont typeface="+mj-lt"/>
              <a:buAutoNum type="arabicPeriod"/>
            </a:pPr>
            <a:r>
              <a:rPr lang="en-IN" sz="2200" b="0" i="0" dirty="0">
                <a:effectLst/>
              </a:rPr>
              <a:t>Raw audio is converted to </a:t>
            </a:r>
            <a:r>
              <a:rPr lang="en-IN" sz="2200" b="1" i="0" dirty="0">
                <a:effectLst/>
              </a:rPr>
              <a:t>Mel-Frequency Cepstral Coefficients (MFCCs)</a:t>
            </a:r>
            <a:r>
              <a:rPr lang="en-IN" sz="2200" b="0" i="0" dirty="0">
                <a:effectLst/>
              </a:rPr>
              <a:t> to represent its unique acoustic properties.</a:t>
            </a:r>
          </a:p>
          <a:p>
            <a:pPr marL="742950" lvl="1" indent="-285750" algn="l">
              <a:buFont typeface="+mj-lt"/>
              <a:buAutoNum type="arabicPeriod"/>
            </a:pPr>
            <a:r>
              <a:rPr lang="en-IN" sz="2200" b="1" i="0" dirty="0">
                <a:effectLst/>
              </a:rPr>
              <a:t>Fast Dynamic Time Warping (</a:t>
            </a:r>
            <a:r>
              <a:rPr lang="en-IN" sz="2200" b="1" i="0" dirty="0" err="1">
                <a:effectLst/>
              </a:rPr>
              <a:t>FastDTW</a:t>
            </a:r>
            <a:r>
              <a:rPr lang="en-IN" sz="2200" b="1" i="0" dirty="0">
                <a:effectLst/>
              </a:rPr>
              <a:t>)</a:t>
            </a:r>
            <a:r>
              <a:rPr lang="en-IN" sz="2200" b="0" i="0" dirty="0">
                <a:effectLst/>
              </a:rPr>
              <a:t> aligns the keyword template against the target audio to identify matches.</a:t>
            </a:r>
          </a:p>
          <a:p>
            <a:pPr indent="0" algn="l">
              <a:buFont typeface="+mj-lt"/>
              <a:buAutoNum type="arabicPeriod"/>
            </a:pPr>
            <a:r>
              <a:rPr lang="en-IN" sz="2200" b="1" i="0" dirty="0">
                <a:effectLst/>
              </a:rPr>
              <a:t>Persistence &amp; Return:</a:t>
            </a:r>
            <a:endParaRPr lang="en-IN" sz="2200" b="0" i="0" dirty="0">
              <a:effectLst/>
            </a:endParaRPr>
          </a:p>
          <a:p>
            <a:pPr marL="742950" lvl="1" indent="-285750" algn="l">
              <a:buFont typeface="+mj-lt"/>
              <a:buAutoNum type="arabicPeriod"/>
            </a:pPr>
            <a:r>
              <a:rPr lang="en-IN" sz="2200" b="0" i="0" dirty="0">
                <a:effectLst/>
              </a:rPr>
              <a:t>The matching timestamps are saved to the MySQL </a:t>
            </a:r>
            <a:r>
              <a:rPr lang="en-IN" sz="2200" b="0" i="0" dirty="0" err="1">
                <a:effectLst/>
              </a:rPr>
              <a:t>Search_Result</a:t>
            </a:r>
            <a:r>
              <a:rPr lang="en-IN" sz="2200" b="0" i="0" dirty="0">
                <a:effectLst/>
              </a:rPr>
              <a:t> and </a:t>
            </a:r>
            <a:r>
              <a:rPr lang="en-IN" sz="2200" b="0" i="0" dirty="0" err="1">
                <a:effectLst/>
              </a:rPr>
              <a:t>Search_History</a:t>
            </a:r>
            <a:r>
              <a:rPr lang="en-IN" sz="2200" b="0" i="0" dirty="0">
                <a:effectLst/>
              </a:rPr>
              <a:t> tables.</a:t>
            </a:r>
          </a:p>
          <a:p>
            <a:pPr marL="742950" lvl="1" indent="-285750" algn="l">
              <a:buFont typeface="+mj-lt"/>
              <a:buAutoNum type="arabicPeriod"/>
            </a:pPr>
            <a:r>
              <a:rPr lang="en-IN" sz="2200" b="0" i="0" dirty="0">
                <a:effectLst/>
              </a:rPr>
              <a:t>The data is sent back to the React UI, which updates the timeline so the user can play back the matching parts of the audio.</a:t>
            </a:r>
          </a:p>
        </p:txBody>
      </p:sp>
    </p:spTree>
    <p:extLst>
      <p:ext uri="{BB962C8B-B14F-4D97-AF65-F5344CB8AC3E}">
        <p14:creationId xmlns:p14="http://schemas.microsoft.com/office/powerpoint/2010/main" val="2689957293"/>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F8F0ED9-723E-2D25-C134-ADD36E6DD0AA}"/>
            </a:ext>
          </a:extLst>
        </p:cNvPr>
        <p:cNvGrpSpPr/>
        <p:nvPr/>
      </p:nvGrpSpPr>
      <p:grpSpPr>
        <a:xfrm>
          <a:off x="0" y="0"/>
          <a:ext cx="0" cy="0"/>
          <a:chOff x="0" y="0"/>
          <a:chExt cx="0" cy="0"/>
        </a:xfrm>
      </p:grpSpPr>
      <p:sp>
        <p:nvSpPr>
          <p:cNvPr id="3" name="Rectangle 2">
            <a:extLst>
              <a:ext uri="{FF2B5EF4-FFF2-40B4-BE49-F238E27FC236}">
                <a16:creationId xmlns:a16="http://schemas.microsoft.com/office/drawing/2014/main" id="{F381EB07-9A97-D055-0285-C7484FD00452}"/>
              </a:ext>
            </a:extLst>
          </p:cNvPr>
          <p:cNvSpPr/>
          <p:nvPr/>
        </p:nvSpPr>
        <p:spPr>
          <a:xfrm>
            <a:off x="0" y="166074"/>
            <a:ext cx="12192000" cy="609600"/>
          </a:xfrm>
          <a:prstGeom prst="rect">
            <a:avLst/>
          </a:prstGeom>
        </p:spPr>
        <p:style>
          <a:lnRef idx="3">
            <a:schemeClr val="lt1"/>
          </a:lnRef>
          <a:fillRef idx="1">
            <a:schemeClr val="accent6"/>
          </a:fillRef>
          <a:effectRef idx="1">
            <a:schemeClr val="accent6"/>
          </a:effectRef>
          <a:fontRef idx="minor">
            <a:schemeClr val="lt1"/>
          </a:fontRef>
        </p:style>
        <p:txBody>
          <a:bodyPr rtlCol="0" anchor="ctr"/>
          <a:lstStyle/>
          <a:p>
            <a:pPr algn="ctr"/>
            <a:r>
              <a:rPr lang="en-US" sz="3200" b="1" dirty="0"/>
              <a:t>Workflow</a:t>
            </a:r>
            <a:endParaRPr lang="en-IN" sz="3200" b="1" dirty="0"/>
          </a:p>
        </p:txBody>
      </p:sp>
      <p:sp>
        <p:nvSpPr>
          <p:cNvPr id="4" name="TextBox 3">
            <a:extLst>
              <a:ext uri="{FF2B5EF4-FFF2-40B4-BE49-F238E27FC236}">
                <a16:creationId xmlns:a16="http://schemas.microsoft.com/office/drawing/2014/main" id="{FEE86CBD-47A1-FA28-7415-6F8EB1075583}"/>
              </a:ext>
            </a:extLst>
          </p:cNvPr>
          <p:cNvSpPr txBox="1"/>
          <p:nvPr/>
        </p:nvSpPr>
        <p:spPr>
          <a:xfrm>
            <a:off x="0" y="993872"/>
            <a:ext cx="12192000" cy="3077766"/>
          </a:xfrm>
          <a:prstGeom prst="rect">
            <a:avLst/>
          </a:prstGeom>
          <a:noFill/>
        </p:spPr>
        <p:txBody>
          <a:bodyPr wrap="square">
            <a:spAutoFit/>
          </a:bodyPr>
          <a:lstStyle/>
          <a:p>
            <a:pPr indent="0" algn="l">
              <a:spcAft>
                <a:spcPts val="1200"/>
              </a:spcAft>
              <a:buFont typeface="+mj-lt"/>
              <a:buAutoNum type="arabicPeriod"/>
            </a:pPr>
            <a:r>
              <a:rPr lang="en-IN" sz="2400" b="0" i="0" dirty="0">
                <a:solidFill>
                  <a:srgbClr val="1F2328"/>
                </a:solidFill>
                <a:effectLst/>
              </a:rPr>
              <a:t>Provide a target keyword along with a few (for example, 5) audio recordings of that keyword.</a:t>
            </a:r>
          </a:p>
          <a:p>
            <a:pPr indent="0" algn="l">
              <a:spcAft>
                <a:spcPts val="1200"/>
              </a:spcAft>
              <a:buFont typeface="+mj-lt"/>
              <a:buAutoNum type="arabicPeriod"/>
            </a:pPr>
            <a:r>
              <a:rPr lang="en-IN" sz="2400" b="0" i="0" dirty="0">
                <a:solidFill>
                  <a:srgbClr val="1F2328"/>
                </a:solidFill>
                <a:effectLst/>
              </a:rPr>
              <a:t>Upload a longer audio recording in which the keyword should be searched.</a:t>
            </a:r>
          </a:p>
          <a:p>
            <a:pPr indent="0" algn="l">
              <a:spcAft>
                <a:spcPts val="1200"/>
              </a:spcAft>
              <a:buFont typeface="+mj-lt"/>
              <a:buAutoNum type="arabicPeriod"/>
            </a:pPr>
            <a:r>
              <a:rPr lang="en-IN" sz="2400" b="0" i="0" dirty="0">
                <a:solidFill>
                  <a:srgbClr val="1F2328"/>
                </a:solidFill>
                <a:effectLst/>
              </a:rPr>
              <a:t>The system extracts audio features from both the sample recordings and the target audio.</a:t>
            </a:r>
          </a:p>
          <a:p>
            <a:pPr indent="0" algn="l">
              <a:spcAft>
                <a:spcPts val="1200"/>
              </a:spcAft>
              <a:buFont typeface="+mj-lt"/>
              <a:buAutoNum type="arabicPeriod"/>
            </a:pPr>
            <a:r>
              <a:rPr lang="en-IN" sz="2400" b="0" i="0" dirty="0">
                <a:solidFill>
                  <a:srgbClr val="1F2328"/>
                </a:solidFill>
                <a:effectLst/>
              </a:rPr>
              <a:t>It compares learned representations to identify occurrences of the keyword.</a:t>
            </a:r>
          </a:p>
          <a:p>
            <a:pPr indent="0" algn="l">
              <a:spcAft>
                <a:spcPts val="1200"/>
              </a:spcAft>
              <a:buFont typeface="+mj-lt"/>
              <a:buAutoNum type="arabicPeriod"/>
            </a:pPr>
            <a:r>
              <a:rPr lang="en-IN" sz="2400" b="0" i="0" dirty="0">
                <a:solidFill>
                  <a:srgbClr val="1F2328"/>
                </a:solidFill>
                <a:effectLst/>
              </a:rPr>
              <a:t>The detected timestamps of every occurrence are returned to the user</a:t>
            </a:r>
          </a:p>
          <a:p>
            <a:pPr indent="0" algn="l">
              <a:spcAft>
                <a:spcPts val="1200"/>
              </a:spcAft>
            </a:pPr>
            <a:r>
              <a:rPr lang="en-IN" sz="2400" b="1" dirty="0">
                <a:solidFill>
                  <a:srgbClr val="1F2328"/>
                </a:solidFill>
              </a:rPr>
              <a:t>SIMPLE WORKFLOW</a:t>
            </a:r>
          </a:p>
        </p:txBody>
      </p:sp>
      <p:pic>
        <p:nvPicPr>
          <p:cNvPr id="6" name="Picture 5" descr="Audio file - Free music icons">
            <a:extLst>
              <a:ext uri="{FF2B5EF4-FFF2-40B4-BE49-F238E27FC236}">
                <a16:creationId xmlns:a16="http://schemas.microsoft.com/office/drawing/2014/main" id="{DF0535C1-094C-C370-61FC-1543B732DF30}"/>
              </a:ext>
            </a:extLst>
          </p:cNvPr>
          <p:cNvPicPr>
            <a:picLocks noChangeAspect="1"/>
          </p:cNvPicPr>
          <p:nvPr/>
        </p:nvPicPr>
        <p:blipFill>
          <a:blip r:embed="rId3"/>
          <a:stretch>
            <a:fillRect/>
          </a:stretch>
        </p:blipFill>
        <p:spPr>
          <a:xfrm>
            <a:off x="1936119" y="4409690"/>
            <a:ext cx="1627616" cy="1627616"/>
          </a:xfrm>
          <a:prstGeom prst="rect">
            <a:avLst/>
          </a:prstGeom>
        </p:spPr>
      </p:pic>
      <p:pic>
        <p:nvPicPr>
          <p:cNvPr id="8" name="Picture 7" descr="Analysing - Free business and finance icons">
            <a:extLst>
              <a:ext uri="{FF2B5EF4-FFF2-40B4-BE49-F238E27FC236}">
                <a16:creationId xmlns:a16="http://schemas.microsoft.com/office/drawing/2014/main" id="{F8709ECA-D51A-6706-5794-7B8987489630}"/>
              </a:ext>
            </a:extLst>
          </p:cNvPr>
          <p:cNvPicPr>
            <a:picLocks noChangeAspect="1"/>
          </p:cNvPicPr>
          <p:nvPr/>
        </p:nvPicPr>
        <p:blipFill>
          <a:blip r:embed="rId4"/>
          <a:stretch>
            <a:fillRect/>
          </a:stretch>
        </p:blipFill>
        <p:spPr>
          <a:xfrm>
            <a:off x="5624648" y="4302232"/>
            <a:ext cx="1794540" cy="1794540"/>
          </a:xfrm>
          <a:prstGeom prst="rect">
            <a:avLst/>
          </a:prstGeom>
        </p:spPr>
      </p:pic>
      <p:pic>
        <p:nvPicPr>
          <p:cNvPr id="10" name="Picture 9" descr="Keyword Research Stock Illustrations – 7,489 Keyword Research Stock Illustrations, Vectors &amp; Clipart - Dreamstime">
            <a:extLst>
              <a:ext uri="{FF2B5EF4-FFF2-40B4-BE49-F238E27FC236}">
                <a16:creationId xmlns:a16="http://schemas.microsoft.com/office/drawing/2014/main" id="{562DE074-F3AD-E732-4B19-7376E45AB6F9}"/>
              </a:ext>
            </a:extLst>
          </p:cNvPr>
          <p:cNvPicPr>
            <a:picLocks noChangeAspect="1"/>
          </p:cNvPicPr>
          <p:nvPr/>
        </p:nvPicPr>
        <p:blipFill>
          <a:blip r:embed="rId5"/>
          <a:stretch>
            <a:fillRect/>
          </a:stretch>
        </p:blipFill>
        <p:spPr>
          <a:xfrm>
            <a:off x="10034039" y="4277801"/>
            <a:ext cx="1968561" cy="1968561"/>
          </a:xfrm>
          <a:prstGeom prst="rect">
            <a:avLst/>
          </a:prstGeom>
        </p:spPr>
      </p:pic>
      <p:sp>
        <p:nvSpPr>
          <p:cNvPr id="12" name="TextBox 11">
            <a:extLst>
              <a:ext uri="{FF2B5EF4-FFF2-40B4-BE49-F238E27FC236}">
                <a16:creationId xmlns:a16="http://schemas.microsoft.com/office/drawing/2014/main" id="{38893F1D-57FA-ABF2-ADD3-C2B7C967E0A4}"/>
              </a:ext>
            </a:extLst>
          </p:cNvPr>
          <p:cNvSpPr txBox="1"/>
          <p:nvPr/>
        </p:nvSpPr>
        <p:spPr>
          <a:xfrm>
            <a:off x="405358" y="5932684"/>
            <a:ext cx="1652008" cy="646331"/>
          </a:xfrm>
          <a:prstGeom prst="rect">
            <a:avLst/>
          </a:prstGeom>
          <a:noFill/>
        </p:spPr>
        <p:txBody>
          <a:bodyPr wrap="square">
            <a:spAutoFit/>
          </a:bodyPr>
          <a:lstStyle/>
          <a:p>
            <a:r>
              <a:rPr lang="en-US" dirty="0"/>
              <a:t>Keyword sample</a:t>
            </a:r>
            <a:endParaRPr lang="en-IN" dirty="0"/>
          </a:p>
        </p:txBody>
      </p:sp>
      <p:pic>
        <p:nvPicPr>
          <p:cNvPr id="14" name="Picture 13" descr="Audio file - Free files and folders icons">
            <a:extLst>
              <a:ext uri="{FF2B5EF4-FFF2-40B4-BE49-F238E27FC236}">
                <a16:creationId xmlns:a16="http://schemas.microsoft.com/office/drawing/2014/main" id="{F87E5C57-0AA4-E717-FA6B-867DFE3A4CC2}"/>
              </a:ext>
            </a:extLst>
          </p:cNvPr>
          <p:cNvPicPr>
            <a:picLocks noChangeAspect="1"/>
          </p:cNvPicPr>
          <p:nvPr/>
        </p:nvPicPr>
        <p:blipFill>
          <a:blip r:embed="rId6"/>
          <a:stretch>
            <a:fillRect/>
          </a:stretch>
        </p:blipFill>
        <p:spPr>
          <a:xfrm>
            <a:off x="114383" y="4409690"/>
            <a:ext cx="1530761" cy="1530761"/>
          </a:xfrm>
          <a:prstGeom prst="rect">
            <a:avLst/>
          </a:prstGeom>
        </p:spPr>
      </p:pic>
      <p:sp>
        <p:nvSpPr>
          <p:cNvPr id="16" name="TextBox 15">
            <a:extLst>
              <a:ext uri="{FF2B5EF4-FFF2-40B4-BE49-F238E27FC236}">
                <a16:creationId xmlns:a16="http://schemas.microsoft.com/office/drawing/2014/main" id="{DA6C8171-E2BD-57B2-ECE2-4CC59D06480D}"/>
              </a:ext>
            </a:extLst>
          </p:cNvPr>
          <p:cNvSpPr txBox="1"/>
          <p:nvPr/>
        </p:nvSpPr>
        <p:spPr>
          <a:xfrm>
            <a:off x="1585217" y="5031248"/>
            <a:ext cx="6086168" cy="461665"/>
          </a:xfrm>
          <a:prstGeom prst="rect">
            <a:avLst/>
          </a:prstGeom>
          <a:noFill/>
        </p:spPr>
        <p:txBody>
          <a:bodyPr wrap="square">
            <a:spAutoFit/>
          </a:bodyPr>
          <a:lstStyle/>
          <a:p>
            <a:r>
              <a:rPr lang="en-US" sz="2400" b="1" dirty="0"/>
              <a:t>+</a:t>
            </a:r>
            <a:endParaRPr lang="en-IN" sz="2400" b="1" dirty="0"/>
          </a:p>
        </p:txBody>
      </p:sp>
      <p:sp>
        <p:nvSpPr>
          <p:cNvPr id="18" name="TextBox 17">
            <a:extLst>
              <a:ext uri="{FF2B5EF4-FFF2-40B4-BE49-F238E27FC236}">
                <a16:creationId xmlns:a16="http://schemas.microsoft.com/office/drawing/2014/main" id="{74C78188-F93A-FB9B-AE7C-3C0E821E57EB}"/>
              </a:ext>
            </a:extLst>
          </p:cNvPr>
          <p:cNvSpPr txBox="1"/>
          <p:nvPr/>
        </p:nvSpPr>
        <p:spPr>
          <a:xfrm>
            <a:off x="2057366" y="6071183"/>
            <a:ext cx="6096000" cy="369332"/>
          </a:xfrm>
          <a:prstGeom prst="rect">
            <a:avLst/>
          </a:prstGeom>
          <a:noFill/>
        </p:spPr>
        <p:txBody>
          <a:bodyPr wrap="square">
            <a:spAutoFit/>
          </a:bodyPr>
          <a:lstStyle/>
          <a:p>
            <a:r>
              <a:rPr lang="en-US" dirty="0"/>
              <a:t>Target audio</a:t>
            </a:r>
            <a:endParaRPr lang="en-IN" dirty="0"/>
          </a:p>
        </p:txBody>
      </p:sp>
      <p:sp>
        <p:nvSpPr>
          <p:cNvPr id="20" name="TextBox 19">
            <a:extLst>
              <a:ext uri="{FF2B5EF4-FFF2-40B4-BE49-F238E27FC236}">
                <a16:creationId xmlns:a16="http://schemas.microsoft.com/office/drawing/2014/main" id="{3CBB7B4F-C8F6-6A95-7F15-C77879C4A04A}"/>
              </a:ext>
            </a:extLst>
          </p:cNvPr>
          <p:cNvSpPr txBox="1"/>
          <p:nvPr/>
        </p:nvSpPr>
        <p:spPr>
          <a:xfrm>
            <a:off x="5958125" y="6200317"/>
            <a:ext cx="6096000" cy="369332"/>
          </a:xfrm>
          <a:prstGeom prst="rect">
            <a:avLst/>
          </a:prstGeom>
          <a:noFill/>
        </p:spPr>
        <p:txBody>
          <a:bodyPr wrap="square">
            <a:spAutoFit/>
          </a:bodyPr>
          <a:lstStyle/>
          <a:p>
            <a:r>
              <a:rPr lang="en-US" dirty="0"/>
              <a:t>Analyzing</a:t>
            </a:r>
            <a:endParaRPr lang="en-IN" dirty="0"/>
          </a:p>
        </p:txBody>
      </p:sp>
      <p:sp>
        <p:nvSpPr>
          <p:cNvPr id="22" name="TextBox 21">
            <a:extLst>
              <a:ext uri="{FF2B5EF4-FFF2-40B4-BE49-F238E27FC236}">
                <a16:creationId xmlns:a16="http://schemas.microsoft.com/office/drawing/2014/main" id="{39B0B65D-17AD-563A-3D2A-8AF35C95BEBF}"/>
              </a:ext>
            </a:extLst>
          </p:cNvPr>
          <p:cNvSpPr txBox="1"/>
          <p:nvPr/>
        </p:nvSpPr>
        <p:spPr>
          <a:xfrm>
            <a:off x="10117170" y="6322594"/>
            <a:ext cx="1936955" cy="369332"/>
          </a:xfrm>
          <a:prstGeom prst="rect">
            <a:avLst/>
          </a:prstGeom>
          <a:noFill/>
        </p:spPr>
        <p:txBody>
          <a:bodyPr wrap="square">
            <a:spAutoFit/>
          </a:bodyPr>
          <a:lstStyle/>
          <a:p>
            <a:r>
              <a:rPr lang="en-US" dirty="0"/>
              <a:t>Keyword spotting</a:t>
            </a:r>
            <a:endParaRPr lang="en-IN" dirty="0"/>
          </a:p>
        </p:txBody>
      </p:sp>
      <p:sp>
        <p:nvSpPr>
          <p:cNvPr id="24" name="Arrow: Right 23">
            <a:extLst>
              <a:ext uri="{FF2B5EF4-FFF2-40B4-BE49-F238E27FC236}">
                <a16:creationId xmlns:a16="http://schemas.microsoft.com/office/drawing/2014/main" id="{5A550C55-5994-C1A8-D0D9-6D48BB09FDF5}"/>
              </a:ext>
            </a:extLst>
          </p:cNvPr>
          <p:cNvSpPr/>
          <p:nvPr/>
        </p:nvSpPr>
        <p:spPr>
          <a:xfrm>
            <a:off x="3563736" y="5103710"/>
            <a:ext cx="1728254" cy="184676"/>
          </a:xfrm>
          <a:prstGeom prst="rightArrow">
            <a:avLst/>
          </a:prstGeom>
          <a:solidFill>
            <a:schemeClr val="accent6">
              <a:lumMod val="60000"/>
              <a:lumOff val="4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26" name="Arrow: Right 25">
            <a:extLst>
              <a:ext uri="{FF2B5EF4-FFF2-40B4-BE49-F238E27FC236}">
                <a16:creationId xmlns:a16="http://schemas.microsoft.com/office/drawing/2014/main" id="{63FF0BE0-363A-D6EE-3B6D-3D4A8CB57562}"/>
              </a:ext>
            </a:extLst>
          </p:cNvPr>
          <p:cNvSpPr/>
          <p:nvPr/>
        </p:nvSpPr>
        <p:spPr>
          <a:xfrm>
            <a:off x="7787209" y="5012904"/>
            <a:ext cx="1728254" cy="184676"/>
          </a:xfrm>
          <a:prstGeom prst="rightArrow">
            <a:avLst/>
          </a:prstGeom>
          <a:solidFill>
            <a:schemeClr val="accent6">
              <a:lumMod val="60000"/>
              <a:lumOff val="4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Tree>
    <p:extLst>
      <p:ext uri="{BB962C8B-B14F-4D97-AF65-F5344CB8AC3E}">
        <p14:creationId xmlns:p14="http://schemas.microsoft.com/office/powerpoint/2010/main" val="633791784"/>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A0DF5A81-FEFB-E3D9-BCA8-60565046F58E}"/>
              </a:ext>
            </a:extLst>
          </p:cNvPr>
          <p:cNvSpPr/>
          <p:nvPr/>
        </p:nvSpPr>
        <p:spPr>
          <a:xfrm>
            <a:off x="0" y="166074"/>
            <a:ext cx="12192000" cy="609600"/>
          </a:xfrm>
          <a:prstGeom prst="rect">
            <a:avLst/>
          </a:prstGeom>
        </p:spPr>
        <p:style>
          <a:lnRef idx="3">
            <a:schemeClr val="lt1"/>
          </a:lnRef>
          <a:fillRef idx="1">
            <a:schemeClr val="accent6"/>
          </a:fillRef>
          <a:effectRef idx="1">
            <a:schemeClr val="accent6"/>
          </a:effectRef>
          <a:fontRef idx="minor">
            <a:schemeClr val="lt1"/>
          </a:fontRef>
        </p:style>
        <p:txBody>
          <a:bodyPr rtlCol="0" anchor="ctr"/>
          <a:lstStyle/>
          <a:p>
            <a:pPr algn="ctr"/>
            <a:r>
              <a:rPr lang="en-US" sz="3200" b="1" dirty="0"/>
              <a:t>Screenshot – Login Page</a:t>
            </a:r>
            <a:endParaRPr lang="en-IN" sz="3200" b="1" dirty="0"/>
          </a:p>
        </p:txBody>
      </p:sp>
      <p:pic>
        <p:nvPicPr>
          <p:cNvPr id="4" name="Picture 3">
            <a:extLst>
              <a:ext uri="{FF2B5EF4-FFF2-40B4-BE49-F238E27FC236}">
                <a16:creationId xmlns:a16="http://schemas.microsoft.com/office/drawing/2014/main" id="{EA915BB5-3054-9659-C179-A13C64274180}"/>
              </a:ext>
            </a:extLst>
          </p:cNvPr>
          <p:cNvPicPr>
            <a:picLocks noChangeAspect="1"/>
          </p:cNvPicPr>
          <p:nvPr/>
        </p:nvPicPr>
        <p:blipFill rotWithShape="1">
          <a:blip r:embed="rId2" cstate="print">
            <a:extLst>
              <a:ext uri="{28A0092B-C50C-407E-A947-70E740481C1C}">
                <a14:useLocalDpi xmlns:a14="http://schemas.microsoft.com/office/drawing/2010/main" val="0"/>
              </a:ext>
            </a:extLst>
          </a:blip>
          <a:srcRect t="8801"/>
          <a:stretch>
            <a:fillRect/>
          </a:stretch>
        </p:blipFill>
        <p:spPr bwMode="auto">
          <a:xfrm>
            <a:off x="0" y="2092960"/>
            <a:ext cx="12192000" cy="4765040"/>
          </a:xfrm>
          <a:prstGeom prst="rect">
            <a:avLst/>
          </a:prstGeom>
          <a:noFill/>
          <a:ln>
            <a:noFill/>
          </a:ln>
          <a:extLst>
            <a:ext uri="{53640926-AAD7-44D8-BBD7-CCE9431645EC}">
              <a14:shadowObscured xmlns:a14="http://schemas.microsoft.com/office/drawing/2010/main"/>
            </a:ext>
          </a:extLst>
        </p:spPr>
      </p:pic>
      <p:sp>
        <p:nvSpPr>
          <p:cNvPr id="6" name="TextBox 5">
            <a:extLst>
              <a:ext uri="{FF2B5EF4-FFF2-40B4-BE49-F238E27FC236}">
                <a16:creationId xmlns:a16="http://schemas.microsoft.com/office/drawing/2014/main" id="{8F218A7A-3B15-0F8C-92C2-513CA4E9A68F}"/>
              </a:ext>
            </a:extLst>
          </p:cNvPr>
          <p:cNvSpPr txBox="1"/>
          <p:nvPr/>
        </p:nvSpPr>
        <p:spPr>
          <a:xfrm>
            <a:off x="0" y="920426"/>
            <a:ext cx="12192000" cy="914930"/>
          </a:xfrm>
          <a:prstGeom prst="rect">
            <a:avLst/>
          </a:prstGeom>
          <a:noFill/>
        </p:spPr>
        <p:txBody>
          <a:bodyPr wrap="square">
            <a:spAutoFit/>
          </a:bodyPr>
          <a:lstStyle/>
          <a:p>
            <a:pPr>
              <a:lnSpc>
                <a:spcPct val="115000"/>
              </a:lnSpc>
              <a:spcAft>
                <a:spcPts val="800"/>
              </a:spcAft>
              <a:buNone/>
            </a:pPr>
            <a:r>
              <a:rPr lang="en-IN" sz="2400" kern="100" dirty="0">
                <a:effectLst/>
                <a:latin typeface="Times New Roman" panose="02020603050405020304" pitchFamily="18" charset="0"/>
                <a:ea typeface="Calibri" panose="020F0502020204030204" pitchFamily="34" charset="0"/>
                <a:cs typeface="Latha" panose="020B0604020202020204" pitchFamily="34" charset="0"/>
              </a:rPr>
              <a:t>Registered users can securely access the system by entering their email address and password, selecting the appropriate user role, and clicking the "Sign In" button.</a:t>
            </a:r>
            <a:endParaRPr lang="en-IN" sz="2400" kern="100" dirty="0">
              <a:effectLst/>
              <a:latin typeface="Calibri" panose="020F0502020204030204" pitchFamily="34" charset="0"/>
              <a:ea typeface="Calibri" panose="020F0502020204030204" pitchFamily="34" charset="0"/>
              <a:cs typeface="Latha" panose="020B0604020202020204" pitchFamily="34" charset="0"/>
            </a:endParaRPr>
          </a:p>
        </p:txBody>
      </p:sp>
    </p:spTree>
    <p:extLst>
      <p:ext uri="{BB962C8B-B14F-4D97-AF65-F5344CB8AC3E}">
        <p14:creationId xmlns:p14="http://schemas.microsoft.com/office/powerpoint/2010/main" val="1812231737"/>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A098596-3C85-426E-B5E8-E887F44E891A}"/>
            </a:ext>
          </a:extLst>
        </p:cNvPr>
        <p:cNvGrpSpPr/>
        <p:nvPr/>
      </p:nvGrpSpPr>
      <p:grpSpPr>
        <a:xfrm>
          <a:off x="0" y="0"/>
          <a:ext cx="0" cy="0"/>
          <a:chOff x="0" y="0"/>
          <a:chExt cx="0" cy="0"/>
        </a:xfrm>
      </p:grpSpPr>
      <p:sp>
        <p:nvSpPr>
          <p:cNvPr id="3" name="Rectangle 2">
            <a:extLst>
              <a:ext uri="{FF2B5EF4-FFF2-40B4-BE49-F238E27FC236}">
                <a16:creationId xmlns:a16="http://schemas.microsoft.com/office/drawing/2014/main" id="{594428E2-8D7E-7B84-C98A-87F61A0E3058}"/>
              </a:ext>
            </a:extLst>
          </p:cNvPr>
          <p:cNvSpPr/>
          <p:nvPr/>
        </p:nvSpPr>
        <p:spPr>
          <a:xfrm>
            <a:off x="0" y="166074"/>
            <a:ext cx="12192000" cy="609600"/>
          </a:xfrm>
          <a:prstGeom prst="rect">
            <a:avLst/>
          </a:prstGeom>
        </p:spPr>
        <p:style>
          <a:lnRef idx="3">
            <a:schemeClr val="lt1"/>
          </a:lnRef>
          <a:fillRef idx="1">
            <a:schemeClr val="accent6"/>
          </a:fillRef>
          <a:effectRef idx="1">
            <a:schemeClr val="accent6"/>
          </a:effectRef>
          <a:fontRef idx="minor">
            <a:schemeClr val="lt1"/>
          </a:fontRef>
        </p:style>
        <p:txBody>
          <a:bodyPr rtlCol="0" anchor="ctr"/>
          <a:lstStyle/>
          <a:p>
            <a:pPr algn="ctr"/>
            <a:r>
              <a:rPr lang="en-US" sz="3200" b="1" dirty="0"/>
              <a:t>Screenshot – Registration page</a:t>
            </a:r>
            <a:endParaRPr lang="en-IN" sz="3200" b="1" dirty="0"/>
          </a:p>
        </p:txBody>
      </p:sp>
      <p:pic>
        <p:nvPicPr>
          <p:cNvPr id="2" name="Picture 1">
            <a:extLst>
              <a:ext uri="{FF2B5EF4-FFF2-40B4-BE49-F238E27FC236}">
                <a16:creationId xmlns:a16="http://schemas.microsoft.com/office/drawing/2014/main" id="{56357B21-BB25-F882-4224-A7338095516C}"/>
              </a:ext>
            </a:extLst>
          </p:cNvPr>
          <p:cNvPicPr>
            <a:picLocks noChangeAspect="1"/>
          </p:cNvPicPr>
          <p:nvPr/>
        </p:nvPicPr>
        <p:blipFill rotWithShape="1">
          <a:blip r:embed="rId2" cstate="print">
            <a:extLst>
              <a:ext uri="{28A0092B-C50C-407E-A947-70E740481C1C}">
                <a14:useLocalDpi xmlns:a14="http://schemas.microsoft.com/office/drawing/2010/main" val="0"/>
              </a:ext>
            </a:extLst>
          </a:blip>
          <a:srcRect t="9434"/>
          <a:stretch>
            <a:fillRect/>
          </a:stretch>
        </p:blipFill>
        <p:spPr bwMode="auto">
          <a:xfrm>
            <a:off x="0" y="2034054"/>
            <a:ext cx="12191999" cy="4823946"/>
          </a:xfrm>
          <a:prstGeom prst="rect">
            <a:avLst/>
          </a:prstGeom>
          <a:noFill/>
          <a:ln>
            <a:noFill/>
          </a:ln>
          <a:extLst>
            <a:ext uri="{53640926-AAD7-44D8-BBD7-CCE9431645EC}">
              <a14:shadowObscured xmlns:a14="http://schemas.microsoft.com/office/drawing/2010/main"/>
            </a:ext>
          </a:extLst>
        </p:spPr>
      </p:pic>
      <p:sp>
        <p:nvSpPr>
          <p:cNvPr id="5" name="TextBox 4">
            <a:extLst>
              <a:ext uri="{FF2B5EF4-FFF2-40B4-BE49-F238E27FC236}">
                <a16:creationId xmlns:a16="http://schemas.microsoft.com/office/drawing/2014/main" id="{CC9E7D99-E434-78CC-4752-D79659F79E80}"/>
              </a:ext>
            </a:extLst>
          </p:cNvPr>
          <p:cNvSpPr txBox="1"/>
          <p:nvPr/>
        </p:nvSpPr>
        <p:spPr>
          <a:xfrm>
            <a:off x="-8107" y="1050247"/>
            <a:ext cx="12191998" cy="490199"/>
          </a:xfrm>
          <a:prstGeom prst="rect">
            <a:avLst/>
          </a:prstGeom>
          <a:noFill/>
        </p:spPr>
        <p:txBody>
          <a:bodyPr wrap="square">
            <a:spAutoFit/>
          </a:bodyPr>
          <a:lstStyle/>
          <a:p>
            <a:pPr>
              <a:lnSpc>
                <a:spcPct val="115000"/>
              </a:lnSpc>
              <a:spcAft>
                <a:spcPts val="800"/>
              </a:spcAft>
              <a:buNone/>
            </a:pPr>
            <a:r>
              <a:rPr lang="en-IN" sz="2400" kern="100" dirty="0">
                <a:effectLst/>
                <a:latin typeface="Times New Roman" panose="02020603050405020304" pitchFamily="18" charset="0"/>
                <a:ea typeface="Calibri" panose="020F0502020204030204" pitchFamily="34" charset="0"/>
                <a:cs typeface="Latha" panose="020B0604020202020204" pitchFamily="34" charset="0"/>
              </a:rPr>
              <a:t>New users who do not have an account can register using the "Create Account" option.</a:t>
            </a:r>
            <a:endParaRPr lang="en-IN" sz="2400" kern="100" dirty="0">
              <a:effectLst/>
              <a:latin typeface="Calibri" panose="020F0502020204030204" pitchFamily="34" charset="0"/>
              <a:ea typeface="Calibri" panose="020F0502020204030204" pitchFamily="34" charset="0"/>
              <a:cs typeface="Latha" panose="020B0604020202020204" pitchFamily="34" charset="0"/>
            </a:endParaRPr>
          </a:p>
        </p:txBody>
      </p:sp>
    </p:spTree>
    <p:extLst>
      <p:ext uri="{BB962C8B-B14F-4D97-AF65-F5344CB8AC3E}">
        <p14:creationId xmlns:p14="http://schemas.microsoft.com/office/powerpoint/2010/main" val="2637086079"/>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2F5B56A-8C92-3AB7-EB8D-A1381568C4F8}"/>
            </a:ext>
          </a:extLst>
        </p:cNvPr>
        <p:cNvGrpSpPr/>
        <p:nvPr/>
      </p:nvGrpSpPr>
      <p:grpSpPr>
        <a:xfrm>
          <a:off x="0" y="0"/>
          <a:ext cx="0" cy="0"/>
          <a:chOff x="0" y="0"/>
          <a:chExt cx="0" cy="0"/>
        </a:xfrm>
      </p:grpSpPr>
      <p:sp>
        <p:nvSpPr>
          <p:cNvPr id="3" name="Rectangle 2">
            <a:extLst>
              <a:ext uri="{FF2B5EF4-FFF2-40B4-BE49-F238E27FC236}">
                <a16:creationId xmlns:a16="http://schemas.microsoft.com/office/drawing/2014/main" id="{154A5504-A060-467B-D786-9E8C61011151}"/>
              </a:ext>
            </a:extLst>
          </p:cNvPr>
          <p:cNvSpPr/>
          <p:nvPr/>
        </p:nvSpPr>
        <p:spPr>
          <a:xfrm>
            <a:off x="0" y="166074"/>
            <a:ext cx="12192000" cy="609600"/>
          </a:xfrm>
          <a:prstGeom prst="rect">
            <a:avLst/>
          </a:prstGeom>
        </p:spPr>
        <p:style>
          <a:lnRef idx="3">
            <a:schemeClr val="lt1"/>
          </a:lnRef>
          <a:fillRef idx="1">
            <a:schemeClr val="accent6"/>
          </a:fillRef>
          <a:effectRef idx="1">
            <a:schemeClr val="accent6"/>
          </a:effectRef>
          <a:fontRef idx="minor">
            <a:schemeClr val="lt1"/>
          </a:fontRef>
        </p:style>
        <p:txBody>
          <a:bodyPr rtlCol="0" anchor="ctr"/>
          <a:lstStyle/>
          <a:p>
            <a:pPr algn="ctr"/>
            <a:r>
              <a:rPr lang="en-US" sz="3200" b="1" dirty="0"/>
              <a:t>Screenshot – User Dashboard</a:t>
            </a:r>
            <a:endParaRPr lang="en-IN" sz="3200" b="1" dirty="0"/>
          </a:p>
        </p:txBody>
      </p:sp>
      <p:pic>
        <p:nvPicPr>
          <p:cNvPr id="2" name="Picture 1">
            <a:extLst>
              <a:ext uri="{FF2B5EF4-FFF2-40B4-BE49-F238E27FC236}">
                <a16:creationId xmlns:a16="http://schemas.microsoft.com/office/drawing/2014/main" id="{019704E3-7709-EDB7-C16F-4619B28C7E12}"/>
              </a:ext>
            </a:extLst>
          </p:cNvPr>
          <p:cNvPicPr>
            <a:picLocks noChangeAspect="1"/>
          </p:cNvPicPr>
          <p:nvPr/>
        </p:nvPicPr>
        <p:blipFill rotWithShape="1">
          <a:blip r:embed="rId2" cstate="print">
            <a:extLst>
              <a:ext uri="{28A0092B-C50C-407E-A947-70E740481C1C}">
                <a14:useLocalDpi xmlns:a14="http://schemas.microsoft.com/office/drawing/2010/main" val="0"/>
              </a:ext>
            </a:extLst>
          </a:blip>
          <a:srcRect t="10523"/>
          <a:stretch>
            <a:fillRect/>
          </a:stretch>
        </p:blipFill>
        <p:spPr bwMode="auto">
          <a:xfrm>
            <a:off x="0" y="1627103"/>
            <a:ext cx="12192001" cy="5298991"/>
          </a:xfrm>
          <a:prstGeom prst="rect">
            <a:avLst/>
          </a:prstGeom>
          <a:noFill/>
          <a:ln>
            <a:noFill/>
          </a:ln>
          <a:extLst>
            <a:ext uri="{53640926-AAD7-44D8-BBD7-CCE9431645EC}">
              <a14:shadowObscured xmlns:a14="http://schemas.microsoft.com/office/drawing/2010/main"/>
            </a:ext>
          </a:extLst>
        </p:spPr>
      </p:pic>
      <p:sp>
        <p:nvSpPr>
          <p:cNvPr id="5" name="TextBox 4">
            <a:extLst>
              <a:ext uri="{FF2B5EF4-FFF2-40B4-BE49-F238E27FC236}">
                <a16:creationId xmlns:a16="http://schemas.microsoft.com/office/drawing/2014/main" id="{658EF059-F9B8-A8D6-7937-C1451C153F7B}"/>
              </a:ext>
            </a:extLst>
          </p:cNvPr>
          <p:cNvSpPr txBox="1"/>
          <p:nvPr/>
        </p:nvSpPr>
        <p:spPr>
          <a:xfrm>
            <a:off x="0" y="956289"/>
            <a:ext cx="12192000" cy="490199"/>
          </a:xfrm>
          <a:prstGeom prst="rect">
            <a:avLst/>
          </a:prstGeom>
          <a:noFill/>
        </p:spPr>
        <p:txBody>
          <a:bodyPr wrap="square">
            <a:spAutoFit/>
          </a:bodyPr>
          <a:lstStyle/>
          <a:p>
            <a:pPr>
              <a:lnSpc>
                <a:spcPct val="115000"/>
              </a:lnSpc>
              <a:spcAft>
                <a:spcPts val="800"/>
              </a:spcAft>
              <a:buNone/>
            </a:pPr>
            <a:r>
              <a:rPr lang="en-US" sz="2400" kern="100" dirty="0">
                <a:effectLst/>
                <a:latin typeface="Times New Roman" panose="02020603050405020304" pitchFamily="18" charset="0"/>
                <a:ea typeface="Calibri" panose="020F0502020204030204" pitchFamily="34" charset="0"/>
                <a:cs typeface="Latha" panose="020B0604020202020204" pitchFamily="34" charset="0"/>
              </a:rPr>
              <a:t>This page enables the user to access the functionalities of the system.</a:t>
            </a:r>
            <a:endParaRPr lang="en-IN" sz="2400" kern="100" dirty="0">
              <a:effectLst/>
              <a:latin typeface="Calibri" panose="020F0502020204030204" pitchFamily="34" charset="0"/>
              <a:ea typeface="Calibri" panose="020F0502020204030204" pitchFamily="34" charset="0"/>
              <a:cs typeface="Latha" panose="020B0604020202020204" pitchFamily="34" charset="0"/>
            </a:endParaRPr>
          </a:p>
        </p:txBody>
      </p:sp>
    </p:spTree>
    <p:extLst>
      <p:ext uri="{BB962C8B-B14F-4D97-AF65-F5344CB8AC3E}">
        <p14:creationId xmlns:p14="http://schemas.microsoft.com/office/powerpoint/2010/main" val="2257429657"/>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45172C3-68B6-C618-5FE7-939F572D67CC}"/>
            </a:ext>
          </a:extLst>
        </p:cNvPr>
        <p:cNvGrpSpPr/>
        <p:nvPr/>
      </p:nvGrpSpPr>
      <p:grpSpPr>
        <a:xfrm>
          <a:off x="0" y="0"/>
          <a:ext cx="0" cy="0"/>
          <a:chOff x="0" y="0"/>
          <a:chExt cx="0" cy="0"/>
        </a:xfrm>
      </p:grpSpPr>
      <p:sp>
        <p:nvSpPr>
          <p:cNvPr id="3" name="Rectangle 2">
            <a:extLst>
              <a:ext uri="{FF2B5EF4-FFF2-40B4-BE49-F238E27FC236}">
                <a16:creationId xmlns:a16="http://schemas.microsoft.com/office/drawing/2014/main" id="{CA67E4F3-A5CF-2A5F-F2A2-055122DAEE0F}"/>
              </a:ext>
            </a:extLst>
          </p:cNvPr>
          <p:cNvSpPr/>
          <p:nvPr/>
        </p:nvSpPr>
        <p:spPr>
          <a:xfrm>
            <a:off x="0" y="166074"/>
            <a:ext cx="12192000" cy="609600"/>
          </a:xfrm>
          <a:prstGeom prst="rect">
            <a:avLst/>
          </a:prstGeom>
        </p:spPr>
        <p:style>
          <a:lnRef idx="3">
            <a:schemeClr val="lt1"/>
          </a:lnRef>
          <a:fillRef idx="1">
            <a:schemeClr val="accent6"/>
          </a:fillRef>
          <a:effectRef idx="1">
            <a:schemeClr val="accent6"/>
          </a:effectRef>
          <a:fontRef idx="minor">
            <a:schemeClr val="lt1"/>
          </a:fontRef>
        </p:style>
        <p:txBody>
          <a:bodyPr rtlCol="0" anchor="ctr"/>
          <a:lstStyle/>
          <a:p>
            <a:pPr algn="ctr"/>
            <a:r>
              <a:rPr lang="en-US" sz="3200" b="1" dirty="0"/>
              <a:t>Screenshot – Keyword search pages</a:t>
            </a:r>
            <a:endParaRPr lang="en-IN" sz="3200" b="1" dirty="0"/>
          </a:p>
        </p:txBody>
      </p:sp>
      <p:pic>
        <p:nvPicPr>
          <p:cNvPr id="2" name="Picture 1">
            <a:extLst>
              <a:ext uri="{FF2B5EF4-FFF2-40B4-BE49-F238E27FC236}">
                <a16:creationId xmlns:a16="http://schemas.microsoft.com/office/drawing/2014/main" id="{25FE6099-EBB6-51FD-AAE6-7DF6EC995B49}"/>
              </a:ext>
            </a:extLst>
          </p:cNvPr>
          <p:cNvPicPr>
            <a:picLocks noChangeAspect="1"/>
          </p:cNvPicPr>
          <p:nvPr/>
        </p:nvPicPr>
        <p:blipFill rotWithShape="1">
          <a:blip r:embed="rId2" cstate="print">
            <a:extLst>
              <a:ext uri="{28A0092B-C50C-407E-A947-70E740481C1C}">
                <a14:useLocalDpi xmlns:a14="http://schemas.microsoft.com/office/drawing/2010/main" val="0"/>
              </a:ext>
            </a:extLst>
          </a:blip>
          <a:srcRect t="11198"/>
          <a:stretch>
            <a:fillRect/>
          </a:stretch>
        </p:blipFill>
        <p:spPr bwMode="auto">
          <a:xfrm>
            <a:off x="0" y="1702340"/>
            <a:ext cx="12192000" cy="5155660"/>
          </a:xfrm>
          <a:prstGeom prst="rect">
            <a:avLst/>
          </a:prstGeom>
          <a:noFill/>
          <a:ln>
            <a:noFill/>
          </a:ln>
          <a:extLst>
            <a:ext uri="{53640926-AAD7-44D8-BBD7-CCE9431645EC}">
              <a14:shadowObscured xmlns:a14="http://schemas.microsoft.com/office/drawing/2010/main"/>
            </a:ext>
          </a:extLst>
        </p:spPr>
      </p:pic>
      <p:sp>
        <p:nvSpPr>
          <p:cNvPr id="5" name="TextBox 4">
            <a:extLst>
              <a:ext uri="{FF2B5EF4-FFF2-40B4-BE49-F238E27FC236}">
                <a16:creationId xmlns:a16="http://schemas.microsoft.com/office/drawing/2014/main" id="{33889042-FF46-C0F2-99F4-F0DD3EDF449D}"/>
              </a:ext>
            </a:extLst>
          </p:cNvPr>
          <p:cNvSpPr txBox="1"/>
          <p:nvPr/>
        </p:nvSpPr>
        <p:spPr>
          <a:xfrm>
            <a:off x="0" y="993907"/>
            <a:ext cx="12192000" cy="490199"/>
          </a:xfrm>
          <a:prstGeom prst="rect">
            <a:avLst/>
          </a:prstGeom>
          <a:noFill/>
        </p:spPr>
        <p:txBody>
          <a:bodyPr wrap="square">
            <a:spAutoFit/>
          </a:bodyPr>
          <a:lstStyle/>
          <a:p>
            <a:pPr>
              <a:lnSpc>
                <a:spcPct val="115000"/>
              </a:lnSpc>
              <a:spcAft>
                <a:spcPts val="800"/>
              </a:spcAft>
              <a:buNone/>
            </a:pPr>
            <a:r>
              <a:rPr lang="en-US" sz="2400" kern="100" dirty="0">
                <a:effectLst/>
                <a:latin typeface="Times New Roman" panose="02020603050405020304" pitchFamily="18" charset="0"/>
                <a:ea typeface="Calibri" panose="020F0502020204030204" pitchFamily="34" charset="0"/>
                <a:cs typeface="Latha" panose="020B0604020202020204" pitchFamily="34" charset="0"/>
              </a:rPr>
              <a:t>This enables the user to upload or record the keyword audio, upload the target audio.</a:t>
            </a:r>
            <a:endParaRPr lang="en-IN" sz="2400" kern="100" dirty="0">
              <a:effectLst/>
              <a:latin typeface="Calibri" panose="020F0502020204030204" pitchFamily="34" charset="0"/>
              <a:ea typeface="Calibri" panose="020F0502020204030204" pitchFamily="34" charset="0"/>
              <a:cs typeface="Latha" panose="020B0604020202020204" pitchFamily="34" charset="0"/>
            </a:endParaRPr>
          </a:p>
        </p:txBody>
      </p:sp>
    </p:spTree>
    <p:extLst>
      <p:ext uri="{BB962C8B-B14F-4D97-AF65-F5344CB8AC3E}">
        <p14:creationId xmlns:p14="http://schemas.microsoft.com/office/powerpoint/2010/main" val="352953171"/>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F5E1D6B-3AFA-A3ED-40C8-8A063FB18FB0}"/>
            </a:ext>
          </a:extLst>
        </p:cNvPr>
        <p:cNvGrpSpPr/>
        <p:nvPr/>
      </p:nvGrpSpPr>
      <p:grpSpPr>
        <a:xfrm>
          <a:off x="0" y="0"/>
          <a:ext cx="0" cy="0"/>
          <a:chOff x="0" y="0"/>
          <a:chExt cx="0" cy="0"/>
        </a:xfrm>
      </p:grpSpPr>
      <p:sp>
        <p:nvSpPr>
          <p:cNvPr id="3" name="Rectangle 2">
            <a:extLst>
              <a:ext uri="{FF2B5EF4-FFF2-40B4-BE49-F238E27FC236}">
                <a16:creationId xmlns:a16="http://schemas.microsoft.com/office/drawing/2014/main" id="{89FD7BF3-113B-6E7D-2623-FC9A86E454EE}"/>
              </a:ext>
            </a:extLst>
          </p:cNvPr>
          <p:cNvSpPr/>
          <p:nvPr/>
        </p:nvSpPr>
        <p:spPr>
          <a:xfrm>
            <a:off x="0" y="166074"/>
            <a:ext cx="12192000" cy="609600"/>
          </a:xfrm>
          <a:prstGeom prst="rect">
            <a:avLst/>
          </a:prstGeom>
        </p:spPr>
        <p:style>
          <a:lnRef idx="3">
            <a:schemeClr val="lt1"/>
          </a:lnRef>
          <a:fillRef idx="1">
            <a:schemeClr val="accent6"/>
          </a:fillRef>
          <a:effectRef idx="1">
            <a:schemeClr val="accent6"/>
          </a:effectRef>
          <a:fontRef idx="minor">
            <a:schemeClr val="lt1"/>
          </a:fontRef>
        </p:style>
        <p:txBody>
          <a:bodyPr rtlCol="0" anchor="ctr"/>
          <a:lstStyle/>
          <a:p>
            <a:pPr algn="ctr"/>
            <a:r>
              <a:rPr lang="en-US" sz="3200" b="1" dirty="0"/>
              <a:t>Screenshot – Keyword search result page</a:t>
            </a:r>
            <a:endParaRPr lang="en-IN" sz="3200" b="1" dirty="0"/>
          </a:p>
        </p:txBody>
      </p:sp>
      <p:pic>
        <p:nvPicPr>
          <p:cNvPr id="4" name="Picture 3">
            <a:extLst>
              <a:ext uri="{FF2B5EF4-FFF2-40B4-BE49-F238E27FC236}">
                <a16:creationId xmlns:a16="http://schemas.microsoft.com/office/drawing/2014/main" id="{EAC2539C-A43F-4335-49B5-59C4931EA67B}"/>
              </a:ext>
            </a:extLst>
          </p:cNvPr>
          <p:cNvPicPr>
            <a:picLocks noChangeAspect="1"/>
          </p:cNvPicPr>
          <p:nvPr/>
        </p:nvPicPr>
        <p:blipFill>
          <a:blip r:embed="rId2">
            <a:extLst>
              <a:ext uri="{28A0092B-C50C-407E-A947-70E740481C1C}">
                <a14:useLocalDpi xmlns:a14="http://schemas.microsoft.com/office/drawing/2010/main" val="0"/>
              </a:ext>
            </a:extLst>
          </a:blip>
          <a:srcRect t="10375"/>
          <a:stretch>
            <a:fillRect/>
          </a:stretch>
        </p:blipFill>
        <p:spPr>
          <a:xfrm>
            <a:off x="0" y="1575880"/>
            <a:ext cx="12192000" cy="5022347"/>
          </a:xfrm>
          <a:prstGeom prst="rect">
            <a:avLst/>
          </a:prstGeom>
        </p:spPr>
      </p:pic>
      <p:sp>
        <p:nvSpPr>
          <p:cNvPr id="5" name="TextBox 4">
            <a:extLst>
              <a:ext uri="{FF2B5EF4-FFF2-40B4-BE49-F238E27FC236}">
                <a16:creationId xmlns:a16="http://schemas.microsoft.com/office/drawing/2014/main" id="{9E261A89-F87F-9DCC-9BF9-577AD118332D}"/>
              </a:ext>
            </a:extLst>
          </p:cNvPr>
          <p:cNvSpPr txBox="1"/>
          <p:nvPr/>
        </p:nvSpPr>
        <p:spPr>
          <a:xfrm>
            <a:off x="0" y="930677"/>
            <a:ext cx="12110936" cy="490199"/>
          </a:xfrm>
          <a:prstGeom prst="rect">
            <a:avLst/>
          </a:prstGeom>
          <a:noFill/>
        </p:spPr>
        <p:txBody>
          <a:bodyPr wrap="square">
            <a:spAutoFit/>
          </a:bodyPr>
          <a:lstStyle/>
          <a:p>
            <a:pPr>
              <a:lnSpc>
                <a:spcPct val="115000"/>
              </a:lnSpc>
              <a:spcAft>
                <a:spcPts val="800"/>
              </a:spcAft>
              <a:buNone/>
            </a:pPr>
            <a:r>
              <a:rPr lang="en-US" sz="2400" kern="100" dirty="0">
                <a:effectLst/>
                <a:latin typeface="Times New Roman" panose="02020603050405020304" pitchFamily="18" charset="0"/>
                <a:ea typeface="Calibri" panose="020F0502020204030204" pitchFamily="34" charset="0"/>
                <a:cs typeface="Latha" panose="020B0604020202020204" pitchFamily="34" charset="0"/>
              </a:rPr>
              <a:t>This presents the result of keyword search by the user.</a:t>
            </a:r>
            <a:endParaRPr lang="en-IN" sz="2400" kern="100" dirty="0">
              <a:effectLst/>
              <a:latin typeface="Calibri" panose="020F0502020204030204" pitchFamily="34" charset="0"/>
              <a:ea typeface="Calibri" panose="020F0502020204030204" pitchFamily="34" charset="0"/>
              <a:cs typeface="Latha" panose="020B0604020202020204" pitchFamily="34" charset="0"/>
            </a:endParaRPr>
          </a:p>
        </p:txBody>
      </p:sp>
    </p:spTree>
    <p:extLst>
      <p:ext uri="{BB962C8B-B14F-4D97-AF65-F5344CB8AC3E}">
        <p14:creationId xmlns:p14="http://schemas.microsoft.com/office/powerpoint/2010/main" val="1611756708"/>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BA1CABD-0275-D498-AA92-AF52A10CBA0C}"/>
            </a:ext>
          </a:extLst>
        </p:cNvPr>
        <p:cNvGrpSpPr/>
        <p:nvPr/>
      </p:nvGrpSpPr>
      <p:grpSpPr>
        <a:xfrm>
          <a:off x="0" y="0"/>
          <a:ext cx="0" cy="0"/>
          <a:chOff x="0" y="0"/>
          <a:chExt cx="0" cy="0"/>
        </a:xfrm>
      </p:grpSpPr>
      <p:sp>
        <p:nvSpPr>
          <p:cNvPr id="3" name="Rectangle 2">
            <a:extLst>
              <a:ext uri="{FF2B5EF4-FFF2-40B4-BE49-F238E27FC236}">
                <a16:creationId xmlns:a16="http://schemas.microsoft.com/office/drawing/2014/main" id="{23C8AB11-127C-EF42-2F8F-6064DF18D2BF}"/>
              </a:ext>
            </a:extLst>
          </p:cNvPr>
          <p:cNvSpPr/>
          <p:nvPr/>
        </p:nvSpPr>
        <p:spPr>
          <a:xfrm>
            <a:off x="0" y="186855"/>
            <a:ext cx="12192000" cy="609600"/>
          </a:xfrm>
          <a:prstGeom prst="rect">
            <a:avLst/>
          </a:prstGeom>
        </p:spPr>
        <p:style>
          <a:lnRef idx="3">
            <a:schemeClr val="lt1"/>
          </a:lnRef>
          <a:fillRef idx="1">
            <a:schemeClr val="accent6"/>
          </a:fillRef>
          <a:effectRef idx="1">
            <a:schemeClr val="accent6"/>
          </a:effectRef>
          <a:fontRef idx="minor">
            <a:schemeClr val="lt1"/>
          </a:fontRef>
        </p:style>
        <p:txBody>
          <a:bodyPr rtlCol="0" anchor="ctr"/>
          <a:lstStyle/>
          <a:p>
            <a:pPr algn="ctr"/>
            <a:r>
              <a:rPr lang="en-US" sz="3200" b="1" dirty="0"/>
              <a:t>Screenshot – Search history page</a:t>
            </a:r>
            <a:endParaRPr lang="en-IN" sz="3200" dirty="0">
              <a:effectLst/>
            </a:endParaRPr>
          </a:p>
        </p:txBody>
      </p:sp>
      <p:pic>
        <p:nvPicPr>
          <p:cNvPr id="4" name="Picture 3">
            <a:extLst>
              <a:ext uri="{FF2B5EF4-FFF2-40B4-BE49-F238E27FC236}">
                <a16:creationId xmlns:a16="http://schemas.microsoft.com/office/drawing/2014/main" id="{8B92092B-2326-9B0B-8227-118AFEA18E4C}"/>
              </a:ext>
            </a:extLst>
          </p:cNvPr>
          <p:cNvPicPr>
            <a:picLocks noChangeAspect="1"/>
          </p:cNvPicPr>
          <p:nvPr/>
        </p:nvPicPr>
        <p:blipFill>
          <a:blip r:embed="rId2">
            <a:extLst>
              <a:ext uri="{28A0092B-C50C-407E-A947-70E740481C1C}">
                <a14:useLocalDpi xmlns:a14="http://schemas.microsoft.com/office/drawing/2010/main" val="0"/>
              </a:ext>
            </a:extLst>
          </a:blip>
          <a:srcRect t="11176"/>
          <a:stretch>
            <a:fillRect/>
          </a:stretch>
        </p:blipFill>
        <p:spPr>
          <a:xfrm>
            <a:off x="-8106" y="2122659"/>
            <a:ext cx="12192000" cy="4735341"/>
          </a:xfrm>
          <a:prstGeom prst="rect">
            <a:avLst/>
          </a:prstGeom>
        </p:spPr>
      </p:pic>
      <p:sp>
        <p:nvSpPr>
          <p:cNvPr id="5" name="TextBox 4">
            <a:extLst>
              <a:ext uri="{FF2B5EF4-FFF2-40B4-BE49-F238E27FC236}">
                <a16:creationId xmlns:a16="http://schemas.microsoft.com/office/drawing/2014/main" id="{8DDDF264-A016-9ADD-EAD5-BC0730CE79E3}"/>
              </a:ext>
            </a:extLst>
          </p:cNvPr>
          <p:cNvSpPr txBox="1"/>
          <p:nvPr/>
        </p:nvSpPr>
        <p:spPr>
          <a:xfrm>
            <a:off x="-8106" y="796455"/>
            <a:ext cx="12192000" cy="1339662"/>
          </a:xfrm>
          <a:prstGeom prst="rect">
            <a:avLst/>
          </a:prstGeom>
          <a:noFill/>
        </p:spPr>
        <p:txBody>
          <a:bodyPr wrap="square">
            <a:spAutoFit/>
          </a:bodyPr>
          <a:lstStyle/>
          <a:p>
            <a:pPr>
              <a:lnSpc>
                <a:spcPct val="115000"/>
              </a:lnSpc>
              <a:spcAft>
                <a:spcPts val="800"/>
              </a:spcAft>
              <a:buNone/>
            </a:pPr>
            <a:r>
              <a:rPr lang="en-IN" sz="2400" kern="100" dirty="0">
                <a:effectLst/>
                <a:latin typeface="Times New Roman" panose="02020603050405020304" pitchFamily="18" charset="0"/>
                <a:ea typeface="Calibri" panose="020F0502020204030204" pitchFamily="34" charset="0"/>
                <a:cs typeface="Latha" panose="020B0604020202020204" pitchFamily="34" charset="0"/>
              </a:rPr>
              <a:t>This page maintains a chronological record of keyword spotting operations, allowing users to view details of previous searches, including the keyword, target audio, detection timestamps, and search date.</a:t>
            </a:r>
            <a:endParaRPr lang="en-IN" sz="2400" kern="100" dirty="0">
              <a:effectLst/>
              <a:latin typeface="Calibri" panose="020F0502020204030204" pitchFamily="34" charset="0"/>
              <a:ea typeface="Calibri" panose="020F0502020204030204" pitchFamily="34" charset="0"/>
              <a:cs typeface="Latha" panose="020B0604020202020204" pitchFamily="34" charset="0"/>
            </a:endParaRPr>
          </a:p>
        </p:txBody>
      </p:sp>
    </p:spTree>
    <p:extLst>
      <p:ext uri="{BB962C8B-B14F-4D97-AF65-F5344CB8AC3E}">
        <p14:creationId xmlns:p14="http://schemas.microsoft.com/office/powerpoint/2010/main" val="4086607547"/>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97A3B9EC-6749-3415-12C8-4095C7BB9B92}"/>
              </a:ext>
            </a:extLst>
          </p:cNvPr>
          <p:cNvSpPr/>
          <p:nvPr/>
        </p:nvSpPr>
        <p:spPr>
          <a:xfrm>
            <a:off x="0" y="166074"/>
            <a:ext cx="12192000" cy="609600"/>
          </a:xfrm>
          <a:prstGeom prst="rect">
            <a:avLst/>
          </a:prstGeom>
        </p:spPr>
        <p:style>
          <a:lnRef idx="3">
            <a:schemeClr val="lt1"/>
          </a:lnRef>
          <a:fillRef idx="1">
            <a:schemeClr val="accent6"/>
          </a:fillRef>
          <a:effectRef idx="1">
            <a:schemeClr val="accent6"/>
          </a:effectRef>
          <a:fontRef idx="minor">
            <a:schemeClr val="lt1"/>
          </a:fontRef>
        </p:style>
        <p:txBody>
          <a:bodyPr rtlCol="0" anchor="ctr"/>
          <a:lstStyle/>
          <a:p>
            <a:pPr algn="ctr"/>
            <a:r>
              <a:rPr lang="en-US" sz="3200" b="1" dirty="0"/>
              <a:t>Screenshot – Admin Panel</a:t>
            </a:r>
            <a:endParaRPr lang="en-IN" sz="3200" b="1" dirty="0"/>
          </a:p>
        </p:txBody>
      </p:sp>
      <p:pic>
        <p:nvPicPr>
          <p:cNvPr id="4" name="Picture 3">
            <a:extLst>
              <a:ext uri="{FF2B5EF4-FFF2-40B4-BE49-F238E27FC236}">
                <a16:creationId xmlns:a16="http://schemas.microsoft.com/office/drawing/2014/main" id="{782D7B40-9192-BBE2-3042-DDE42E8EB9E0}"/>
              </a:ext>
            </a:extLst>
          </p:cNvPr>
          <p:cNvPicPr>
            <a:picLocks noChangeAspect="1"/>
          </p:cNvPicPr>
          <p:nvPr/>
        </p:nvPicPr>
        <p:blipFill rotWithShape="1">
          <a:blip r:embed="rId2" cstate="print">
            <a:extLst>
              <a:ext uri="{28A0092B-C50C-407E-A947-70E740481C1C}">
                <a14:useLocalDpi xmlns:a14="http://schemas.microsoft.com/office/drawing/2010/main" val="0"/>
              </a:ext>
            </a:extLst>
          </a:blip>
          <a:srcRect t="10182" b="15608"/>
          <a:stretch>
            <a:fillRect/>
          </a:stretch>
        </p:blipFill>
        <p:spPr bwMode="auto">
          <a:xfrm>
            <a:off x="0" y="1760706"/>
            <a:ext cx="12192000" cy="5097294"/>
          </a:xfrm>
          <a:prstGeom prst="rect">
            <a:avLst/>
          </a:prstGeom>
          <a:noFill/>
          <a:ln>
            <a:noFill/>
          </a:ln>
          <a:extLst>
            <a:ext uri="{53640926-AAD7-44D8-BBD7-CCE9431645EC}">
              <a14:shadowObscured xmlns:a14="http://schemas.microsoft.com/office/drawing/2010/main"/>
            </a:ext>
          </a:extLst>
        </p:spPr>
      </p:pic>
      <p:sp>
        <p:nvSpPr>
          <p:cNvPr id="6" name="TextBox 5">
            <a:extLst>
              <a:ext uri="{FF2B5EF4-FFF2-40B4-BE49-F238E27FC236}">
                <a16:creationId xmlns:a16="http://schemas.microsoft.com/office/drawing/2014/main" id="{8F9CB17E-3A1D-5AAC-8F04-6F9103C00A3C}"/>
              </a:ext>
            </a:extLst>
          </p:cNvPr>
          <p:cNvSpPr txBox="1"/>
          <p:nvPr/>
        </p:nvSpPr>
        <p:spPr>
          <a:xfrm>
            <a:off x="-8106" y="957386"/>
            <a:ext cx="12192000" cy="490199"/>
          </a:xfrm>
          <a:prstGeom prst="rect">
            <a:avLst/>
          </a:prstGeom>
          <a:noFill/>
        </p:spPr>
        <p:txBody>
          <a:bodyPr wrap="square">
            <a:spAutoFit/>
          </a:bodyPr>
          <a:lstStyle/>
          <a:p>
            <a:pPr>
              <a:lnSpc>
                <a:spcPct val="115000"/>
              </a:lnSpc>
              <a:spcAft>
                <a:spcPts val="800"/>
              </a:spcAft>
              <a:buNone/>
            </a:pPr>
            <a:r>
              <a:rPr lang="en-IN" sz="2400" kern="100" dirty="0">
                <a:effectLst/>
                <a:latin typeface="Times New Roman" panose="02020603050405020304" pitchFamily="18" charset="0"/>
                <a:ea typeface="Calibri" panose="020F0502020204030204" pitchFamily="34" charset="0"/>
                <a:cs typeface="Latha" panose="020B0604020202020204" pitchFamily="34" charset="0"/>
              </a:rPr>
              <a:t>Admin controls and maintain the actions done by the user.</a:t>
            </a:r>
            <a:endParaRPr lang="en-IN" sz="2400" kern="100" dirty="0">
              <a:effectLst/>
              <a:latin typeface="Calibri" panose="020F0502020204030204" pitchFamily="34" charset="0"/>
              <a:ea typeface="Calibri" panose="020F0502020204030204" pitchFamily="34" charset="0"/>
              <a:cs typeface="Latha" panose="020B0604020202020204" pitchFamily="34" charset="0"/>
            </a:endParaRPr>
          </a:p>
        </p:txBody>
      </p:sp>
    </p:spTree>
    <p:extLst>
      <p:ext uri="{BB962C8B-B14F-4D97-AF65-F5344CB8AC3E}">
        <p14:creationId xmlns:p14="http://schemas.microsoft.com/office/powerpoint/2010/main" val="1642942766"/>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9FDF79D-A6B7-9C82-BC9F-F7F4EB4E9905}"/>
            </a:ext>
          </a:extLst>
        </p:cNvPr>
        <p:cNvGrpSpPr/>
        <p:nvPr/>
      </p:nvGrpSpPr>
      <p:grpSpPr>
        <a:xfrm>
          <a:off x="0" y="0"/>
          <a:ext cx="0" cy="0"/>
          <a:chOff x="0" y="0"/>
          <a:chExt cx="0" cy="0"/>
        </a:xfrm>
      </p:grpSpPr>
      <p:sp>
        <p:nvSpPr>
          <p:cNvPr id="3" name="Rectangle 2">
            <a:extLst>
              <a:ext uri="{FF2B5EF4-FFF2-40B4-BE49-F238E27FC236}">
                <a16:creationId xmlns:a16="http://schemas.microsoft.com/office/drawing/2014/main" id="{BA21D5BD-245D-F907-EAA7-836F5DC735B3}"/>
              </a:ext>
            </a:extLst>
          </p:cNvPr>
          <p:cNvSpPr/>
          <p:nvPr/>
        </p:nvSpPr>
        <p:spPr>
          <a:xfrm>
            <a:off x="0" y="166074"/>
            <a:ext cx="12192000" cy="609600"/>
          </a:xfrm>
          <a:prstGeom prst="rect">
            <a:avLst/>
          </a:prstGeom>
        </p:spPr>
        <p:style>
          <a:lnRef idx="3">
            <a:schemeClr val="lt1"/>
          </a:lnRef>
          <a:fillRef idx="1">
            <a:schemeClr val="accent6"/>
          </a:fillRef>
          <a:effectRef idx="1">
            <a:schemeClr val="accent6"/>
          </a:effectRef>
          <a:fontRef idx="minor">
            <a:schemeClr val="lt1"/>
          </a:fontRef>
        </p:style>
        <p:txBody>
          <a:bodyPr rtlCol="0" anchor="ctr"/>
          <a:lstStyle/>
          <a:p>
            <a:pPr algn="ctr"/>
            <a:r>
              <a:rPr lang="en-US" sz="3200" b="1" dirty="0"/>
              <a:t>Conclusion</a:t>
            </a:r>
            <a:endParaRPr lang="en-IN" sz="3200" b="1" dirty="0"/>
          </a:p>
        </p:txBody>
      </p:sp>
      <p:sp>
        <p:nvSpPr>
          <p:cNvPr id="4" name="TextBox 3">
            <a:extLst>
              <a:ext uri="{FF2B5EF4-FFF2-40B4-BE49-F238E27FC236}">
                <a16:creationId xmlns:a16="http://schemas.microsoft.com/office/drawing/2014/main" id="{C28BCAA7-60D1-1646-B6BE-4A550CC91DE5}"/>
              </a:ext>
            </a:extLst>
          </p:cNvPr>
          <p:cNvSpPr txBox="1"/>
          <p:nvPr/>
        </p:nvSpPr>
        <p:spPr>
          <a:xfrm>
            <a:off x="0" y="2090172"/>
            <a:ext cx="12192000" cy="2677656"/>
          </a:xfrm>
          <a:prstGeom prst="rect">
            <a:avLst/>
          </a:prstGeom>
          <a:noFill/>
        </p:spPr>
        <p:txBody>
          <a:bodyPr wrap="square">
            <a:spAutoFit/>
          </a:bodyPr>
          <a:lstStyle/>
          <a:p>
            <a:r>
              <a:rPr lang="en-IN" sz="2400" b="0" i="0" dirty="0">
                <a:effectLst/>
              </a:rPr>
              <a:t>                                   In conclusion, the </a:t>
            </a:r>
            <a:r>
              <a:rPr lang="en-IN" sz="2400" b="1" i="0" dirty="0">
                <a:effectLst/>
              </a:rPr>
              <a:t>Few-Shot Language-Agnostic Key Word Spotting System (FSLAKWS)</a:t>
            </a:r>
            <a:r>
              <a:rPr lang="en-IN" sz="2400" b="0" i="0" dirty="0">
                <a:effectLst/>
              </a:rPr>
              <a:t> successfully addresses the limitations of traditional keyword spotting by providing a lightweight, training-free solution that requires just 5 audio samples to run. By merging the speed of a React interface, the reliability of a Spring Boot and MySQL backend, and the flexibility of an acoustic Python ML engine (MFCC + </a:t>
            </a:r>
            <a:r>
              <a:rPr lang="en-IN" sz="2400" b="0" i="0" dirty="0" err="1">
                <a:effectLst/>
              </a:rPr>
              <a:t>FastDTW</a:t>
            </a:r>
            <a:r>
              <a:rPr lang="en-IN" sz="2400" b="0" i="0" dirty="0">
                <a:effectLst/>
              </a:rPr>
              <a:t>), the project delivers an efficient and user-friendly platform. It breaks down language barriers and data requirements, proving to be a highly scalable and language-independent tool for automated audio search and retrieval.</a:t>
            </a:r>
            <a:endParaRPr lang="en-IN" sz="2400" dirty="0"/>
          </a:p>
        </p:txBody>
      </p:sp>
    </p:spTree>
    <p:extLst>
      <p:ext uri="{BB962C8B-B14F-4D97-AF65-F5344CB8AC3E}">
        <p14:creationId xmlns:p14="http://schemas.microsoft.com/office/powerpoint/2010/main" val="1386612349"/>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0AC890F-458E-7F77-E98A-C529945B5E64}"/>
            </a:ext>
          </a:extLst>
        </p:cNvPr>
        <p:cNvGrpSpPr/>
        <p:nvPr/>
      </p:nvGrpSpPr>
      <p:grpSpPr>
        <a:xfrm>
          <a:off x="0" y="0"/>
          <a:ext cx="0" cy="0"/>
          <a:chOff x="0" y="0"/>
          <a:chExt cx="0" cy="0"/>
        </a:xfrm>
      </p:grpSpPr>
      <p:sp>
        <p:nvSpPr>
          <p:cNvPr id="3" name="Rectangle 2">
            <a:extLst>
              <a:ext uri="{FF2B5EF4-FFF2-40B4-BE49-F238E27FC236}">
                <a16:creationId xmlns:a16="http://schemas.microsoft.com/office/drawing/2014/main" id="{46D3AFD9-E34C-F087-7E24-8F004FF5994B}"/>
              </a:ext>
            </a:extLst>
          </p:cNvPr>
          <p:cNvSpPr/>
          <p:nvPr/>
        </p:nvSpPr>
        <p:spPr>
          <a:xfrm>
            <a:off x="0" y="2460913"/>
            <a:ext cx="12192000" cy="1936173"/>
          </a:xfrm>
          <a:prstGeom prst="rect">
            <a:avLst/>
          </a:prstGeom>
        </p:spPr>
        <p:style>
          <a:lnRef idx="3">
            <a:schemeClr val="lt1"/>
          </a:lnRef>
          <a:fillRef idx="1">
            <a:schemeClr val="accent6"/>
          </a:fillRef>
          <a:effectRef idx="1">
            <a:schemeClr val="accent6"/>
          </a:effectRef>
          <a:fontRef idx="minor">
            <a:schemeClr val="lt1"/>
          </a:fontRef>
        </p:style>
        <p:txBody>
          <a:bodyPr rtlCol="0" anchor="ctr"/>
          <a:lstStyle/>
          <a:p>
            <a:pPr algn="ctr"/>
            <a:r>
              <a:rPr lang="en-US" sz="9600" b="1" dirty="0"/>
              <a:t>THANKING YOU</a:t>
            </a:r>
            <a:endParaRPr lang="en-IN" sz="9600" b="1" dirty="0"/>
          </a:p>
        </p:txBody>
      </p:sp>
    </p:spTree>
    <p:extLst>
      <p:ext uri="{BB962C8B-B14F-4D97-AF65-F5344CB8AC3E}">
        <p14:creationId xmlns:p14="http://schemas.microsoft.com/office/powerpoint/2010/main" val="1680324724"/>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147</TotalTime>
  <Words>1877</Words>
  <Application>Microsoft Office PowerPoint</Application>
  <PresentationFormat>Widescreen</PresentationFormat>
  <Paragraphs>167</Paragraphs>
  <Slides>22</Slides>
  <Notes>1</Notes>
  <HiddenSlides>0</HiddenSlides>
  <MMClips>0</MMClips>
  <ScaleCrop>false</ScaleCrop>
  <HeadingPairs>
    <vt:vector size="6" baseType="variant">
      <vt:variant>
        <vt:lpstr>Fonts Used</vt:lpstr>
      </vt:variant>
      <vt:variant>
        <vt:i4>7</vt:i4>
      </vt:variant>
      <vt:variant>
        <vt:lpstr>Theme</vt:lpstr>
      </vt:variant>
      <vt:variant>
        <vt:i4>1</vt:i4>
      </vt:variant>
      <vt:variant>
        <vt:lpstr>Slide Titles</vt:lpstr>
      </vt:variant>
      <vt:variant>
        <vt:i4>22</vt:i4>
      </vt:variant>
    </vt:vector>
  </HeadingPairs>
  <TitlesOfParts>
    <vt:vector size="30" baseType="lpstr">
      <vt:lpstr>Arial</vt:lpstr>
      <vt:lpstr>Calibri</vt:lpstr>
      <vt:lpstr>Calibri (Headings)</vt:lpstr>
      <vt:lpstr>Calibri Light</vt:lpstr>
      <vt:lpstr>Mona Sans VF</vt:lpstr>
      <vt:lpstr>Times New Roman</vt:lpstr>
      <vt:lpstr>Wingdings</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Vaisnava Sakthivel</dc:creator>
  <cp:lastModifiedBy>Vaisnava Sakthivel</cp:lastModifiedBy>
  <cp:revision>4</cp:revision>
  <dcterms:created xsi:type="dcterms:W3CDTF">2026-07-06T16:33:03Z</dcterms:created>
  <dcterms:modified xsi:type="dcterms:W3CDTF">2026-07-09T17:39:03Z</dcterms:modified>
</cp:coreProperties>
</file>